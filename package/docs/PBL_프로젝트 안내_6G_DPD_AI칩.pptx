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65"/>
  </p:notesMasterIdLst>
  <p:sldIdLst>
    <p:sldId id="332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94" r:id="rId28"/>
    <p:sldId id="395" r:id="rId29"/>
    <p:sldId id="396" r:id="rId30"/>
    <p:sldId id="397" r:id="rId31"/>
    <p:sldId id="360" r:id="rId32"/>
    <p:sldId id="361" r:id="rId33"/>
    <p:sldId id="398" r:id="rId34"/>
    <p:sldId id="362" r:id="rId35"/>
    <p:sldId id="363" r:id="rId36"/>
    <p:sldId id="364" r:id="rId37"/>
    <p:sldId id="365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74" r:id="rId46"/>
    <p:sldId id="375" r:id="rId47"/>
    <p:sldId id="376" r:id="rId48"/>
    <p:sldId id="377" r:id="rId49"/>
    <p:sldId id="378" r:id="rId50"/>
    <p:sldId id="379" r:id="rId51"/>
    <p:sldId id="380" r:id="rId52"/>
    <p:sldId id="381" r:id="rId53"/>
    <p:sldId id="382" r:id="rId54"/>
    <p:sldId id="383" r:id="rId55"/>
    <p:sldId id="384" r:id="rId56"/>
    <p:sldId id="385" r:id="rId57"/>
    <p:sldId id="386" r:id="rId58"/>
    <p:sldId id="387" r:id="rId59"/>
    <p:sldId id="388" r:id="rId60"/>
    <p:sldId id="389" r:id="rId61"/>
    <p:sldId id="390" r:id="rId62"/>
    <p:sldId id="391" r:id="rId63"/>
    <p:sldId id="392" r:id="rId6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8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0C8A7-5EAA-4491-85C5-FA70C03C9B7E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F0616-654A-486D-938A-981956E242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685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2F56B-8A74-800A-66FB-11FC153AC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02FF39-6EC2-454A-C722-B5F4520A0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68F772-D4E4-4614-145C-834FF7C62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08767A-486E-D20E-BFAA-955C1639A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3F191-0AE2-49D0-8BE2-9CA2724E14E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717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PA는 효율이 좋은 포화 근처에서 쓰고 싶지만, 그 영역에서는 출력이 입력에 비례하지 않습니다(압축). DPD는 PA의 역특성을 미리 곱해 PA를 통과한 결과가 선형이 되게 만듭니다. 오른쪽 그림은 실제 데이터(DPA_200MHz)와 PA 대리모델로 그린 AM/AM입니다.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NMSE는 시간 영역 오차, ACPR은 옆 채널 누설입니다. 실무에서는 ACPR이 가장 중요합니다. 모든 지표는 dB이고 더 음수일수록 좋습니다. 측정은 반드시 eval_pa.py로 2,560 샘플 구간 단위로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논문은 다섯 단계 구조입니다. FEx로 I/Q를 6개 특징으로 늘리고, 6→5 선형층과 PReLU를 거쳐, GRU 3층을 지나는데 층마다 잔차(x_n = h + σ(S_n)·x_{n-1})를 더합니다. 마지막 5→2 선형층이 I/Q를 냅니다. 파라미터는 591개뿐입니다.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RNN은 h(t)가 h(t-1)에 의존해서 파이프라인이 막힙니다. 은닉 크기 H가 크면 재귀 경로(행렬곱)가 길어져 II가 커집니다. 논문의 주장은 층별 잔차로 작은 H에서도 정확도를 지키고, 그 결과 재귀 경로가 짧아져 II=2를 얻는다는 것입니다. 그래서 II=2는 이 과제에서 반드시 지켜야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v0은 논문 HLS 원본에서 config만 (5,3)으로 맞춘 것입니다. 실제로 쓰이는 경로는 multi_gru.cpp의 ResGRU입니다. 쓰이지 않는 함수도 많이 남아 있으니 헷갈리지 마세요.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LOOP_T가 시간 루프이고 PIPELINE이 걸려 있습니다. 그 안의 모든 함수는 INLINE이라 하나의 큰 파이프라인이 됩니다. h_state_all은 static이라 다음 시간 샘플로 값이 전달되고, 이것이 재귀 경로입니다.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자료형 세 개가 전체 설계의 정확도와 자원을 좌우합니다. v1에서는 weight_t와 data_t를 16비트 단어로 고정하되 정수·소수 배분은 자유입니다.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ResGRU는 64샘플 블록을 받아 64샘플을 냅니다. 가중치는 모두 함수 인자로 들어오고, testbench가 golden/weights의 txt를 읽어 채웁니다.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루프가 설계의 심장입니다. PIPELINE이 걸려 있고 리포트상 II=2입니다. 안쪽 LAYER_LOOP와 모든 함수는 파이프라인 안에서 자동으로 펼쳐집니다.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sqrt와 나눗셈은 하드웨어로 비쌉니다. 그래서 1/sqrt(amp2)를 Newton-Raphson으로 구한 뒤 곱셈만으로 |x|, sin, cos를 만듭니다. 중간값도 모두 data_t로 계산됩니다.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루프 안에 PIPELINE이 있지만 모두 INLINE되어 LOOP_T 파이프라인 안으로 들어가므로, 결국 모든 곱셈이 병렬 곱셈기로 펼쳐집니다. DSP 648개는 대부분 여기서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GRU 수식과 코드 변수의 대응을 꼭 확인하세요. W_ir_x는 W_ir·x, W_hr_h는 W_hr·h입니다. 게이트 계산은 다음 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코드의 r_pre, z_pre, n_pre가 수식의 괄호 안입니다. 활성화 함수는 my_hard_sigmoid와 my_hard_tanh를 씁니다. 학습에 쓴 함수와 같은지 비교해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v0에는 쓰지 않는 코드가 많습니다. 정리는 자유지만, 정리한 것도 한 번의 변경으로 기록하고 결과가 같은지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네 곳이 같은 계산을 해야 합니다. 디버깅할 때 이 표를 보고 어느 블록에서 달라지는지 좁혀 가세요.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패키지를 git 저장소로 받습니다. results 폴더는 비어 있고 여러분의 출력이 쌓이는 곳입니다.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hw_ref.py는 HLS와 같은 순서로 계산하고 HLS가 값을 대입하는 지점마다 같은 형식으로 반올림합니다. 근사를 하나씩 켜고 끄면서 손실을 분리해 잴 수 있는 것이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compare_out은 구현이 맞는지, eval_pa는 목표를 넘는지입니다. 둘은 다른 질문이니 둘 다 기록하세요.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설치는 30GB 이상 내려받고 1~2시간 걸립니다. 첫 주에 반드시 끝내고, xczu7ev로 구현까지 되는지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C-sim은 10초 정도면 끝납니다. 마지막에 CSim done with 0 errors가 나오고 results/hls_out.txt가 생기면 성공입니다.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합성 리포트에서 가장 먼저 볼 것은 LOOP_T의 II입니다. v0은 target 1에 achieved 2입니다. 타이밍 추정치는 HLS 추정이라 구현 후 값과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2024.1에서 vitis_hls -p만 쓰면 에러가 납니다. -classic을 붙여야 예전 Vitis HLS GUI가 열립니다. 시작할 때 deprecation 경고가 뜨면 Continue With Vitis HLS를 누릅니다.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911915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2024.1에서 vitis_hls -p만 쓰면 에러가 납니다. -classic을 붙여야 예전 Vitis HLS GUI가 열립니다. 시작할 때 deprecation 경고가 뜨면 Continue With Vitis HLS를 누릅니다.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364499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2024.1에서 vitis_hls -p만 쓰면 에러가 납니다. -classic을 붙여야 예전 Vitis HLS GUI가 열립니다. 시작할 때 deprecation 경고가 뜨면 Continue With Vitis HLS를 누릅니다.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595845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2024.1에서 vitis_hls -p만 쓰면 에러가 납니다. -classic을 붙여야 예전 Vitis HLS GUI가 열립니다. 시작할 때 deprecation 경고가 뜨면 Continue With Vitis HLS를 누릅니다.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631519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구현은 Vivado가 실제로 배치·배선해서 자원과 타이밍을 냅니다. 한 번에 1시간 가까이 걸립니다. v0은 15ns 목표에 17.1ns로 타이밍을 맞추지 못합니다.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4주차까지 이 다섯 단계가 각자 PC에서 그대로 재현되어야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4주차까지 이 다섯 단계가 각자 PC에서 그대로 재현되어야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770444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같은 학습 가중치를 v0 하드웨어로 돌리면 NMSE가 −45.5에서 −26.7로, ACPR이 약 14dB 나빠집니다. 스펙트럼에서 인접 채널 누설이 크게 올라온 것이 보입니다. 논문 HLS 설계는 더미 가중치로 합성해 자원과 II를 보고했고, 학습 가중치로 정확도를 확인한 것은 이번이 처음입니다.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II=2와 DSP 수는 논문과 맞습니다. 하지만 구현 후 타이밍은 15ns를 넘어 66MHz를 달성하지 못합니다. 실제 처리율은 약 30MSps입니다.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네 가지 문제의 증상과 손실만 알려 줍니다. 원인을 코드에서 찾고 해결 방법을 고르는 것은 여러분 몫입니다. 손실은 하나씩 따로 켰을 때의 값이라 더해지지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II=2는 논문의 핵심 주장이므로 정확도를 회복하면서 II가 늘어나면 그 설계는 의미가 없습니다. 정확도 목표는 필수, 처리율은 목표, 자원은 도전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22C3E1-9BA2-DA6E-82C0-5D67BCE1A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F5075-31B0-21D5-6D39-334657C1A2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898" y="1135063"/>
            <a:ext cx="11506202" cy="512095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378225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9B260-DB6B-B4A7-53B9-BFB8C12E3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슬라이드 번호 개체 틀 8">
            <a:extLst>
              <a:ext uri="{FF2B5EF4-FFF2-40B4-BE49-F238E27FC236}">
                <a16:creationId xmlns:a16="http://schemas.microsoft.com/office/drawing/2014/main" id="{812E169F-54B0-F679-BC0E-01991104F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2599" y="6542600"/>
            <a:ext cx="3238501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latin typeface="나눔고딕" pitchFamily="2" charset="-127"/>
                <a:ea typeface="나눔고딕" pitchFamily="2" charset="-127"/>
              </a:defRPr>
            </a:lvl1pPr>
          </a:lstStyle>
          <a:p>
            <a:r>
              <a:rPr lang="en-US" altLang="ko-KR" dirty="0"/>
              <a:t>0</a:t>
            </a:r>
            <a:fld id="{AEA394E8-CC17-4E4C-9F79-18D0431EAAB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E543CF47-8D46-ADB5-818B-3E441CF25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133497"/>
            <a:ext cx="11506202" cy="52228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731774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1EDF7744-3AC7-72B8-FD00-49EA5432C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146F526C-857C-2582-0DEA-E394767E1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05090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22C3E1-9BA2-DA6E-82C0-5D67BCE1A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F5075-31B0-21D5-6D39-334657C1A2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898" y="1135063"/>
            <a:ext cx="11506202" cy="512095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855701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9B260-DB6B-B4A7-53B9-BFB8C12E3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슬라이드 번호 개체 틀 8">
            <a:extLst>
              <a:ext uri="{FF2B5EF4-FFF2-40B4-BE49-F238E27FC236}">
                <a16:creationId xmlns:a16="http://schemas.microsoft.com/office/drawing/2014/main" id="{812E169F-54B0-F679-BC0E-01991104F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2599" y="6542600"/>
            <a:ext cx="3238501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latin typeface="나눔고딕" pitchFamily="2" charset="-127"/>
                <a:ea typeface="나눔고딕" pitchFamily="2" charset="-127"/>
              </a:defRPr>
            </a:lvl1pPr>
          </a:lstStyle>
          <a:p>
            <a:r>
              <a:rPr lang="en-US" altLang="ko-KR" dirty="0"/>
              <a:t>0</a:t>
            </a:r>
            <a:fld id="{AEA394E8-CC17-4E4C-9F79-18D0431EAAB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E543CF47-8D46-ADB5-818B-3E441CF25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133497"/>
            <a:ext cx="11506202" cy="52228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191002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A56123-A455-6886-CFDB-82DABEC1F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9" y="407247"/>
            <a:ext cx="1150620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560D8C-7F34-7034-B80E-D40106546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899" y="1133497"/>
            <a:ext cx="11506202" cy="52228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75DCF8-DF30-6E74-3FC7-014963D4C364}"/>
              </a:ext>
            </a:extLst>
          </p:cNvPr>
          <p:cNvSpPr/>
          <p:nvPr userDrawn="1"/>
        </p:nvSpPr>
        <p:spPr>
          <a:xfrm>
            <a:off x="1" y="0"/>
            <a:ext cx="12194378" cy="216000"/>
          </a:xfrm>
          <a:prstGeom prst="rect">
            <a:avLst/>
          </a:prstGeom>
          <a:solidFill>
            <a:srgbClr val="2366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60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24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1" r:id="rId4"/>
    <p:sldLayoutId id="2147483662" r:id="rId5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Calibri" panose="020F0502020204030204" pitchFamily="34" charset="0"/>
          <a:ea typeface="나눔고딕" pitchFamily="2" charset="-127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나눔고딕" pitchFamily="2" charset="-127"/>
          <a:cs typeface="Calibri" panose="020F0502020204030204" pitchFamily="34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나눔고딕" pitchFamily="2" charset="-127"/>
          <a:cs typeface="Calibri" panose="020F0502020204030204" pitchFamily="34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나눔고딕" pitchFamily="2" charset="-127"/>
          <a:cs typeface="Calibri" panose="020F0502020204030204" pitchFamily="34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나눔고딕" pitchFamily="2" charset="-127"/>
          <a:cs typeface="Calibri" panose="020F0502020204030204" pitchFamily="34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나눔고딕" pitchFamily="2" charset="-127"/>
          <a:cs typeface="Calibri" panose="020F050202020403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10F7B-8EEC-31DB-4926-E60880866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816C5830-4648-671E-F676-6983E49B2B5A}"/>
              </a:ext>
            </a:extLst>
          </p:cNvPr>
          <p:cNvGrpSpPr/>
          <p:nvPr/>
        </p:nvGrpSpPr>
        <p:grpSpPr>
          <a:xfrm>
            <a:off x="5980948" y="0"/>
            <a:ext cx="6211052" cy="6858000"/>
            <a:chOff x="5980948" y="0"/>
            <a:chExt cx="6211052" cy="68580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B7D0B3B-2014-764A-2242-D199F0BA1B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/>
            <a:stretch/>
          </p:blipFill>
          <p:spPr>
            <a:xfrm>
              <a:off x="5980948" y="0"/>
              <a:ext cx="6211052" cy="685800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11FDC2F-6844-888C-732C-FF70F6231351}"/>
                </a:ext>
              </a:extLst>
            </p:cNvPr>
            <p:cNvSpPr/>
            <p:nvPr/>
          </p:nvSpPr>
          <p:spPr>
            <a:xfrm>
              <a:off x="6015649" y="3775"/>
              <a:ext cx="6176351" cy="6845433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itchFamily="2" charset="-127"/>
                <a:ea typeface="나눔고딕" pitchFamily="2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88BA441-33D5-1688-A0E7-2D95AEEBA472}"/>
              </a:ext>
            </a:extLst>
          </p:cNvPr>
          <p:cNvGrpSpPr/>
          <p:nvPr/>
        </p:nvGrpSpPr>
        <p:grpSpPr>
          <a:xfrm>
            <a:off x="5097747" y="-21378"/>
            <a:ext cx="8012154" cy="6916032"/>
            <a:chOff x="7289585" y="-21378"/>
            <a:chExt cx="8012154" cy="691603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AFE73C2-3CE9-C83A-9353-CDB15EC5AC15}"/>
                </a:ext>
              </a:extLst>
            </p:cNvPr>
            <p:cNvGrpSpPr/>
            <p:nvPr/>
          </p:nvGrpSpPr>
          <p:grpSpPr>
            <a:xfrm>
              <a:off x="7289585" y="-21378"/>
              <a:ext cx="4902415" cy="6916032"/>
              <a:chOff x="14829986" y="736599"/>
              <a:chExt cx="8699934" cy="12273346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8A40BBD9-92EC-4669-8079-8BD409437E42}"/>
                  </a:ext>
                </a:extLst>
              </p:cNvPr>
              <p:cNvSpPr/>
              <p:nvPr/>
            </p:nvSpPr>
            <p:spPr>
              <a:xfrm rot="2700000">
                <a:off x="14829985" y="3512125"/>
                <a:ext cx="6722293" cy="6722292"/>
              </a:xfrm>
              <a:prstGeom prst="rect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450">
                  <a:latin typeface="나눔고딕" pitchFamily="2" charset="-127"/>
                  <a:ea typeface="나눔고딕" pitchFamily="2" charset="-127"/>
                  <a:cs typeface="Calibri" panose="020F0502020204030204" pitchFamily="34" charset="0"/>
                </a:endParaRPr>
              </a:p>
            </p:txBody>
          </p:sp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2671C939-50C6-4C8B-D6EC-72714F0082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1193"/>
              <a:stretch/>
            </p:blipFill>
            <p:spPr>
              <a:xfrm>
                <a:off x="16808319" y="736599"/>
                <a:ext cx="6721601" cy="12273346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9C575CE8-8EF8-3AED-AF5D-9C6C1FF99B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1193"/>
            <a:stretch/>
          </p:blipFill>
          <p:spPr>
            <a:xfrm flipH="1">
              <a:off x="11514115" y="-21378"/>
              <a:ext cx="3787624" cy="6916032"/>
            </a:xfrm>
            <a:prstGeom prst="rect">
              <a:avLst/>
            </a:prstGeom>
          </p:spPr>
        </p:pic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EBB978B-92F5-F66E-33BF-E51B73CC02B4}"/>
              </a:ext>
            </a:extLst>
          </p:cNvPr>
          <p:cNvSpPr/>
          <p:nvPr/>
        </p:nvSpPr>
        <p:spPr>
          <a:xfrm>
            <a:off x="-10168" y="0"/>
            <a:ext cx="6244191" cy="68674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itchFamily="2" charset="-127"/>
              <a:ea typeface="나눔고딕" pitchFamily="2" charset="-127"/>
              <a:cs typeface="Calibri" panose="020F0502020204030204" pitchFamily="34" charset="0"/>
            </a:endParaRPr>
          </a:p>
        </p:txBody>
      </p:sp>
      <p:sp>
        <p:nvSpPr>
          <p:cNvPr id="18" name="사다리꼴 17">
            <a:extLst>
              <a:ext uri="{FF2B5EF4-FFF2-40B4-BE49-F238E27FC236}">
                <a16:creationId xmlns:a16="http://schemas.microsoft.com/office/drawing/2014/main" id="{F09FF681-E3FD-217B-276B-9255D371B4E4}"/>
              </a:ext>
            </a:extLst>
          </p:cNvPr>
          <p:cNvSpPr/>
          <p:nvPr/>
        </p:nvSpPr>
        <p:spPr>
          <a:xfrm rot="5400000">
            <a:off x="3479237" y="2761266"/>
            <a:ext cx="6861600" cy="1350740"/>
          </a:xfrm>
          <a:prstGeom prst="trapezoid">
            <a:avLst>
              <a:gd name="adj" fmla="val 1008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itchFamily="2" charset="-127"/>
              <a:ea typeface="나눔고딕" pitchFamily="2" charset="-127"/>
              <a:cs typeface="Calibri" panose="020F0502020204030204" pitchFamily="34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904D617-68FA-6B1A-6491-274F17499E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75" y="1307405"/>
            <a:ext cx="1950892" cy="424319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61E8915-6300-8A60-01AE-29BF65D398F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42" y="368301"/>
            <a:ext cx="2209264" cy="300669"/>
          </a:xfrm>
          <a:prstGeom prst="rect">
            <a:avLst/>
          </a:prstGeom>
        </p:spPr>
      </p:pic>
      <p:sp>
        <p:nvSpPr>
          <p:cNvPr id="21" name="텍스트 상자 15">
            <a:extLst>
              <a:ext uri="{FF2B5EF4-FFF2-40B4-BE49-F238E27FC236}">
                <a16:creationId xmlns:a16="http://schemas.microsoft.com/office/drawing/2014/main" id="{78A9CC96-2B77-F070-88BA-D54B2F177533}"/>
              </a:ext>
            </a:extLst>
          </p:cNvPr>
          <p:cNvSpPr txBox="1"/>
          <p:nvPr/>
        </p:nvSpPr>
        <p:spPr>
          <a:xfrm>
            <a:off x="250042" y="4061077"/>
            <a:ext cx="4185761" cy="1235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ko-KR" sz="2400" b="1" dirty="0">
                <a:solidFill>
                  <a:srgbClr val="002856"/>
                </a:solidFill>
                <a:latin typeface="맑은 고딕" pitchFamily="2" charset="-127"/>
                <a:ea typeface="맑은 고딕" pitchFamily="2" charset="-127"/>
                <a:cs typeface="맑은 고딕" panose="020F0502020204030204" pitchFamily="34" charset="0"/>
              </a:rPr>
              <a:t>2026. 10. 15</a:t>
            </a:r>
          </a:p>
          <a:p>
            <a:pPr>
              <a:lnSpc>
                <a:spcPct val="125000"/>
              </a:lnSpc>
            </a:pPr>
            <a:r>
              <a:rPr kumimoji="1" lang="en-US" altLang="ko-KR" sz="1050" b="1" dirty="0">
                <a:solidFill>
                  <a:srgbClr val="002856"/>
                </a:solidFill>
                <a:latin typeface="나눔고딕" pitchFamily="2" charset="-127"/>
                <a:ea typeface="나눔고딕" pitchFamily="2" charset="-127"/>
                <a:cs typeface="Calibri" panose="020F0502020204030204" pitchFamily="34" charset="0"/>
              </a:rPr>
              <a:t>Kyungpook National University [KNU]</a:t>
            </a:r>
          </a:p>
          <a:p>
            <a:pPr>
              <a:lnSpc>
                <a:spcPct val="125000"/>
              </a:lnSpc>
            </a:pPr>
            <a:r>
              <a:rPr kumimoji="1" lang="en-US" altLang="ko-KR" sz="1050" b="1" dirty="0">
                <a:solidFill>
                  <a:srgbClr val="002856"/>
                </a:solidFill>
                <a:latin typeface="나눔고딕" pitchFamily="2" charset="-127"/>
                <a:ea typeface="나눔고딕" pitchFamily="2" charset="-127"/>
                <a:cs typeface="Calibri" panose="020F0502020204030204" pitchFamily="34" charset="0"/>
              </a:rPr>
              <a:t>Electronic &amp; Electrical Engineering</a:t>
            </a:r>
          </a:p>
          <a:p>
            <a:pPr>
              <a:lnSpc>
                <a:spcPct val="125000"/>
              </a:lnSpc>
            </a:pPr>
            <a:r>
              <a:rPr kumimoji="1" lang="en-US" altLang="ko-KR" sz="500" b="1" dirty="0">
                <a:solidFill>
                  <a:srgbClr val="002856"/>
                </a:solidFill>
                <a:latin typeface="나눔고딕" pitchFamily="2" charset="-127"/>
                <a:ea typeface="나눔고딕" pitchFamily="2" charset="-127"/>
                <a:cs typeface="Calibri" panose="020F0502020204030204" pitchFamily="34" charset="0"/>
              </a:rPr>
              <a:t>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·</a:t>
            </a:r>
          </a:p>
          <a:p>
            <a:pPr>
              <a:lnSpc>
                <a:spcPct val="125000"/>
              </a:lnSpc>
            </a:pPr>
            <a:r>
              <a:rPr kumimoji="1" lang="en-US" altLang="ko-KR" sz="1050" b="1" dirty="0">
                <a:solidFill>
                  <a:srgbClr val="002856"/>
                </a:solidFill>
                <a:latin typeface="나눔고딕" pitchFamily="2" charset="-127"/>
                <a:ea typeface="나눔고딕" pitchFamily="2" charset="-127"/>
                <a:cs typeface="Calibri" panose="020F0502020204030204" pitchFamily="34" charset="0"/>
              </a:rPr>
              <a:t>Intelligent Chip Engineering Lab. [ICE]</a:t>
            </a:r>
          </a:p>
        </p:txBody>
      </p:sp>
      <p:sp>
        <p:nvSpPr>
          <p:cNvPr id="22" name="텍스트 상자 13">
            <a:extLst>
              <a:ext uri="{FF2B5EF4-FFF2-40B4-BE49-F238E27FC236}">
                <a16:creationId xmlns:a16="http://schemas.microsoft.com/office/drawing/2014/main" id="{3F667EFD-80D1-3F9A-13EC-B4FCD95CC66B}"/>
              </a:ext>
            </a:extLst>
          </p:cNvPr>
          <p:cNvSpPr txBox="1"/>
          <p:nvPr/>
        </p:nvSpPr>
        <p:spPr>
          <a:xfrm>
            <a:off x="250042" y="1152806"/>
            <a:ext cx="3127779" cy="21988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ko-KR" sz="3200" b="1" dirty="0">
                <a:solidFill>
                  <a:srgbClr val="00285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itchFamily="2" charset="-127"/>
                <a:ea typeface="맑은 고딕" pitchFamily="2" charset="-127"/>
                <a:cs typeface="맑은 고딕" panose="020F0502020204030204" pitchFamily="34" charset="0"/>
              </a:rPr>
              <a:t>6G 통신을 위한</a:t>
            </a:r>
          </a:p>
          <a:p>
            <a:pPr>
              <a:lnSpc>
                <a:spcPct val="125000"/>
              </a:lnSpc>
            </a:pPr>
            <a:r>
              <a:rPr kumimoji="1" lang="en-US" altLang="ko-KR" sz="3200" b="1" dirty="0">
                <a:solidFill>
                  <a:srgbClr val="00285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맑은 고딕" pitchFamily="2" charset="-127"/>
                <a:ea typeface="맑은 고딕" pitchFamily="2" charset="-127"/>
                <a:cs typeface="맑은 고딕" panose="020F0502020204030204" pitchFamily="34" charset="0"/>
              </a:rPr>
              <a:t>DPD AI 칩 설계</a:t>
            </a:r>
          </a:p>
          <a:p>
            <a:pPr>
              <a:lnSpc>
                <a:spcPct val="125000"/>
              </a:lnSpc>
            </a:pPr>
            <a:endParaRPr kumimoji="1"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  <a:cs typeface="Calibri" panose="020F0502020204030204" pitchFamily="34" charset="0"/>
            </a:endParaRPr>
          </a:p>
          <a:p>
            <a:pPr>
              <a:lnSpc>
                <a:spcPct val="125000"/>
              </a:lnSpc>
            </a:pPr>
            <a:r>
              <a:rPr kumimoji="1"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2" charset="-127"/>
                <a:ea typeface="맑은 고딕" pitchFamily="2" charset="-127"/>
                <a:cs typeface="맑은 고딕" panose="020F0502020204030204" pitchFamily="34" charset="0"/>
              </a:rPr>
              <a:t>PBL 과제 안내</a:t>
            </a:r>
            <a:endParaRPr kumimoji="1"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나눔고딕" pitchFamily="2" charset="-127"/>
              <a:ea typeface="나눔고딕" pitchFamily="2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508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25880"/>
            <a:ext cx="868680" cy="960120"/>
          </a:xfrm>
          <a:prstGeom prst="rect">
            <a:avLst/>
          </a:prstGeom>
          <a:solidFill>
            <a:srgbClr val="236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86868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EAF1F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37160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002856"/>
                </a:solidFill>
                <a:latin typeface="맑은 고딕"/>
                <a:ea typeface="맑은 고딕"/>
                <a:cs typeface="맑은 고딕"/>
              </a:rPr>
              <a:t>DPD 기본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28800"/>
            <a:ext cx="9875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PA 비선형성, DPD 원리, 성능 지표 (NMSE · ACPR · EVM)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532888"/>
            <a:ext cx="868680" cy="960120"/>
          </a:xfrm>
          <a:prstGeom prst="rect">
            <a:avLst/>
          </a:prstGeom>
          <a:solidFill>
            <a:srgbClr val="236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532888"/>
            <a:ext cx="86868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EAF1F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78608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002856"/>
                </a:solidFill>
                <a:latin typeface="맑은 고딕"/>
                <a:ea typeface="맑은 고딕"/>
                <a:cs typeface="맑은 고딕"/>
              </a:rPr>
              <a:t>LW-ResGRU DPD 모델과 코드 리뷰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35808"/>
            <a:ext cx="9875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논문 구조·novelty 요약 → PyTorch 모델 → HLS 소스 파일별·함수별 리뷰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739896"/>
            <a:ext cx="868680" cy="960120"/>
          </a:xfrm>
          <a:prstGeom prst="rect">
            <a:avLst/>
          </a:prstGeom>
          <a:solidFill>
            <a:srgbClr val="236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3739896"/>
            <a:ext cx="86868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EAF1F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85615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002856"/>
                </a:solidFill>
                <a:latin typeface="맑은 고딕"/>
                <a:ea typeface="맑은 고딕"/>
                <a:cs typeface="맑은 고딕"/>
              </a:rPr>
              <a:t>배포 자료와 우선 과제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42816"/>
            <a:ext cx="9875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패키지 구성, Vitis HLS 2024.1 실행 방법, v0의 성능 열화(논문 대비), 지켜야 할 조건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946904"/>
            <a:ext cx="868680" cy="960120"/>
          </a:xfrm>
          <a:prstGeom prst="rect">
            <a:avLst/>
          </a:prstGeom>
          <a:solidFill>
            <a:srgbClr val="236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4946904"/>
            <a:ext cx="86868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EAF1FA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992624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002856"/>
                </a:solidFill>
                <a:latin typeface="맑은 고딕"/>
                <a:ea typeface="맑은 고딕"/>
                <a:cs typeface="맑은 고딕"/>
              </a:rPr>
              <a:t>Vitis HLS 기초 (자습용)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49824"/>
            <a:ext cx="9875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HLS 흐름, 자료형, 지표 읽기, PIPELINE · UNROLL · ARRAY_PARTITION 등 최적화 pragma 전체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5798"/>
            <a:ext cx="292608" cy="6642201"/>
          </a:xfrm>
          <a:prstGeom prst="rect">
            <a:avLst/>
          </a:prstGeom>
          <a:solidFill>
            <a:srgbClr val="236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002856"/>
                </a:solidFill>
                <a:latin typeface="맑은 고딕"/>
                <a:ea typeface="맑은 고딕"/>
                <a:cs typeface="맑은 고딕"/>
              </a:rPr>
              <a:t>DPD 기본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46120"/>
            <a:ext cx="5074920" cy="0"/>
          </a:xfrm>
          <a:prstGeom prst="line">
            <a:avLst/>
          </a:prstGeom>
          <a:ln w="25400">
            <a:solidFill>
              <a:srgbClr val="236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3474720"/>
            <a:ext cx="10515600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PA는 왜 신호를 일그러뜨리는가</a:t>
            </a:r>
          </a:p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DPD는 무엇을 하는가</a:t>
            </a:r>
          </a:p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성능은 어떻게 재는가 — NMSE · ACPR · EVM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PA 비선형성과 DPD의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15568"/>
            <a:ext cx="576072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32410" indent="-18669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전력증폭기(PA)는 </a:t>
            </a:r>
            <a:r>
              <a:rPr sz="14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효율이 높은 포화 근처</a:t>
            </a: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에서 쓸수록 좋지만, 그 영역에서는</a:t>
            </a:r>
          </a:p>
          <a:p>
            <a:pPr marL="488442" indent="-18669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–"/>
            </a:pPr>
            <a:r>
              <a:rPr sz="13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큰 입력이 덜 증폭됨 (</a:t>
            </a:r>
            <a:r>
              <a:rPr sz="1300" b="1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AM/AM 압축</a:t>
            </a:r>
            <a:r>
              <a:rPr sz="13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), 위상도 틀어짐 (AM/PM)</a:t>
            </a:r>
          </a:p>
          <a:p>
            <a:pPr marL="488442" indent="-18669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–"/>
            </a:pPr>
            <a:r>
              <a:rPr sz="13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이전 샘플의 영향이 남음 (</a:t>
            </a:r>
            <a:r>
              <a:rPr sz="1300" b="1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메모리 효과</a:t>
            </a:r>
            <a:r>
              <a:rPr sz="13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) → 시간 의존적인 모델 필요</a:t>
            </a:r>
          </a:p>
          <a:p>
            <a:pPr marL="232410" indent="-18669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결과: 신호가 일그러지고 </a:t>
            </a:r>
            <a:r>
              <a:rPr sz="14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옆 채널로 전력이 새어</a:t>
            </a: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다른 사용자를 방해</a:t>
            </a:r>
          </a:p>
          <a:p>
            <a:pPr marL="232410" indent="-18669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4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DPD (Digital Predistortion)</a:t>
            </a: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PA의 역특성을 디지털로 미리 적용</a:t>
            </a:r>
          </a:p>
          <a:p>
            <a:pPr marL="488442" indent="-18669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–"/>
            </a:pPr>
            <a:r>
              <a:rPr sz="1235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x → DPD → PA → G·x</a:t>
            </a:r>
            <a:r>
              <a:rPr sz="13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 (전체가 선형 증폭기처럼 동작)</a:t>
            </a:r>
          </a:p>
        </p:txBody>
      </p:sp>
      <p:pic>
        <p:nvPicPr>
          <p:cNvPr id="5" name="Picture 4" descr="fig01_dpd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75" y="4069080"/>
            <a:ext cx="5274128" cy="2286000"/>
          </a:xfrm>
          <a:prstGeom prst="rect">
            <a:avLst/>
          </a:prstGeom>
        </p:spPr>
      </p:pic>
      <p:pic>
        <p:nvPicPr>
          <p:cNvPr id="6" name="Picture 5" descr="d02_am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228" y="1115568"/>
            <a:ext cx="5080382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DPD 성능 지표 — NMSE · ACPR · EVM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pic>
        <p:nvPicPr>
          <p:cNvPr id="4" name="Picture 3" descr="d01_spect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83" y="1115568"/>
            <a:ext cx="5909872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78040" y="1115568"/>
            <a:ext cx="4617720" cy="356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무엇을 재나 (모두 dB, 작을수록 좋음)</a:t>
            </a:r>
          </a:p>
          <a:p>
            <a:pPr marL="225742" indent="-180022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NMSE</a:t>
            </a: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출력과 이상적 출력 G·x의 오차 에너지 비</a:t>
            </a:r>
          </a:p>
          <a:p>
            <a:pPr marL="225742" indent="-180022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ACPR</a:t>
            </a: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(dBc): 주 채널 대비 </a:t>
            </a:r>
            <a:r>
              <a:rPr sz="13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인접 채널 전력</a:t>
            </a: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. 왼쪽/오른쪽 따로. 실무에서 가장 중요</a:t>
            </a:r>
          </a:p>
          <a:p>
            <a:pPr marL="225742" indent="-180022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EVM</a:t>
            </a: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변조 심볼의 오차 (통신 품질)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데이터셋 DPA_200MHz</a:t>
            </a:r>
          </a:p>
          <a:p>
            <a:pPr marL="225742" indent="-180022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200 MHz 대역 신호, 샘플링 800 MHz</a:t>
            </a:r>
          </a:p>
          <a:p>
            <a:pPr marL="225742" indent="-180022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test 7,680 샘플 = </a:t>
            </a:r>
            <a:r>
              <a:rPr sz="13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2,560 × 3 구간</a:t>
            </a: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(구간마다 은닉 상태 0에서 시작)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4709160"/>
          <a:ext cx="11338559" cy="15361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60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9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00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 대리모델 통과 (제공 도구 eval_pa.py)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NMSE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EVM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ACPR L / R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DPD 없음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−11.07 dB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−11.71 dB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−31.99 / −30.00 dBc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논문 Table I — LW-ResGRU (H=5, L=3), 10 seed 평균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−43.48 dB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−46.65 dB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−50.39 / −47.83 dBc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모델 (seed 4574, float) — 이번 과제의 golden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−45.52 dB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−49.42 dB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−53.59 / −50.43 dBc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309360"/>
            <a:ext cx="11338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학습은 2단계: ① 실측 데이터로 PA 대리모델 학습 → ② PA 모델을 고정하고 DPD 학습. PA 모델은 평가 도구일 뿐 HW로 만들지 않는다.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5798"/>
            <a:ext cx="292608" cy="6642201"/>
          </a:xfrm>
          <a:prstGeom prst="rect">
            <a:avLst/>
          </a:prstGeom>
          <a:solidFill>
            <a:srgbClr val="236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002856"/>
                </a:solidFill>
                <a:latin typeface="맑은 고딕"/>
                <a:ea typeface="맑은 고딕"/>
                <a:cs typeface="맑은 고딕"/>
              </a:rPr>
              <a:t>LW-ResGRU DPD 모델과 코드 리뷰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46120"/>
            <a:ext cx="5074920" cy="0"/>
          </a:xfrm>
          <a:prstGeom prst="line">
            <a:avLst/>
          </a:prstGeom>
          <a:ln w="25400">
            <a:solidFill>
              <a:srgbClr val="236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3474720"/>
            <a:ext cx="10515600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논문 요약: 구조와 novelty (II = 2)</a:t>
            </a:r>
          </a:p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PyTorch 모델 (학습·golden 생성 쪽)</a:t>
            </a:r>
          </a:p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HLS 소스 (v0): 파일 지도 → 호출 구조 → 함수별 리뷰</a:t>
            </a:r>
          </a:p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PyTorch ↔ HLS ↔ golden 파일 대응표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LW-ResGRU 한눈에 (논문: Kim, Park, Kim, KNU)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pic>
        <p:nvPicPr>
          <p:cNvPr id="4" name="Picture 3" descr="fig02_lw_resgru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943" y="1115568"/>
            <a:ext cx="6379633" cy="25146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3749039"/>
          <a:ext cx="6675119" cy="23682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8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3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파라미터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FEx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[I, Q, |x|, |x|³, sinθ, cosθ]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입력 투영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= W_in·x_fex + b_in  (6→5)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PReLU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≥ 0 ? x : a·x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GRU 3층 + 층별 잔차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x_n = GRU_n(x_{n-1}) + σ(S_n)·x_{n-1}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× 180 + 3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 출력 투영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[I_y, Q_y] = W_out·x_3 + b_out  (5→2)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591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3749039"/>
            <a:ext cx="4434840" cy="23774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숫자로 보는 모델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GRU 층 하나 = 3 게이트 × (W_i 5×5 + W_h 5×5 + b 2×5) = 180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 = 5</a:t>
            </a: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(은닉 크기)로 작게, 대신 </a:t>
            </a: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 = 3</a:t>
            </a: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층으로 깊게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σ(S_n): 층마다 학습되는 스칼라 1개 (잔차 세기)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논문의</a:t>
            </a:r>
            <a:r>
              <a:rPr sz="26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novelty </a:t>
            </a:r>
            <a:r>
              <a:rPr lang="en-US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- </a:t>
            </a:r>
            <a:r>
              <a:rPr sz="26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II =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pic>
        <p:nvPicPr>
          <p:cNvPr id="4" name="Picture 3" descr="h02_recurrence_i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90" y="1115568"/>
            <a:ext cx="7393258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2440" y="1115568"/>
            <a:ext cx="370332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RNN-DPD의 HW 병목 (논문 Fig.1)</a:t>
            </a:r>
          </a:p>
          <a:p>
            <a:pPr marL="219075" indent="-173355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높은 샘플링 속도 → 높은 처리율 요구</a:t>
            </a:r>
          </a:p>
          <a:p>
            <a:pPr marL="219075" indent="-173355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은닉 상태의 순차 의존</a:t>
            </a: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파이프라인 한계</a:t>
            </a:r>
          </a:p>
          <a:p>
            <a:pPr marL="219075" indent="-173355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H↑ 정확도↑ 이지만 행렬곱 지연↑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886200"/>
          <a:ext cx="6400797" cy="1152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1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(H, L)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(8,1)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(7,1)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(6,2)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(5,3)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(4,4)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II (논문 Table III)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NMSE (Table I, H=5·8)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−43.14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−43.48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086600" y="3886200"/>
            <a:ext cx="4663440" cy="24231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층별</a:t>
            </a:r>
            <a:r>
              <a:rPr sz="13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잔차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작은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H에서도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정확도를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지킨다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H = 5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H가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작으면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재귀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경로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(5×5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행렬곱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)가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짧다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3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II = 2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66 MHz × 1/2 = </a:t>
            </a:r>
            <a:r>
              <a:rPr sz="13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33.3 </a:t>
            </a:r>
            <a:r>
              <a:rPr sz="13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MSps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sz="13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457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</a:pP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300" b="1" dirty="0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II = 2는 </a:t>
            </a:r>
            <a:r>
              <a:rPr sz="1300" b="1" dirty="0" err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필수</a:t>
            </a:r>
            <a:r>
              <a:rPr sz="1300" b="1" dirty="0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조건</a:t>
            </a:r>
            <a:endParaRPr sz="1300" b="1" dirty="0">
              <a:solidFill>
                <a:srgbClr val="D95A1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5166360"/>
            <a:ext cx="640080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II (Initiation Interval): 다음 샘플을 받기까지 걸리는 clock 수</a:t>
            </a: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처리율(MSps) = 클록 주파수(MHz) / II</a:t>
            </a: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자세한 개념은 PART 4 참고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HLS 소스 (v0) 파일 지도 — src/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15568"/>
          <a:ext cx="11338560" cy="4727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이번 과제에서 쓰이는 것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config.h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크기·자료형 정의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I_SIZE=H_SIZE=5, NUM_LAYERS=3, TIME_STEP=64, data_t / weight_t / accum_t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파일이 include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multi_gru.cpp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.h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top 함수 ResGRU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GRU 층 반복, 층별 잔차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ResGRU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GRU_single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MultiLayerGRU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GRU_multi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ResJ_multi_GRU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는 미사용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gru_cell.h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GRU 셀 계산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GRU_Kernel_PE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(행렬곱 6개),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Gate_Calc_PE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(게이트·상태 갱신)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GRU_Cell_PE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는 미사용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linear_layer.h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행렬곱 · 선형층 · FEx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MAC_PE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MVM_PE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Linear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FExLayer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activations.h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활성화 함수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my_hard_sigmoid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my_hard_tanh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prelu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나머지(hls4ml 계열, GPL)는 미사용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utils.h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배열 복사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copy_row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(UNROLL)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fxp_sqrt.h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고정소수점 sqrt (AMD 예제)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include만 됨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FEx는 sqrt 대신 Newton-Raphson 사용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nnet_common.h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hls4ml 공통 정의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include만 됨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gru_cell.cpp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GRU 예전 버전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빌드에 포함되지 않음 (I_SIZE 4)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wrapper.cpp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논문 측정용 wrapper (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Res_HW_wrapper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tcl의 top은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ResGRU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. wrapper는 빌드 안 함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943600"/>
            <a:ext cx="11338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빌드 스크립트(scripts/run_resgru.tcl)는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src/multi_gru.cpp</a:t>
            </a:r>
            <a:r>
              <a:rPr sz="125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 하나만 add_files 하고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set_top ResGRU</a:t>
            </a:r>
            <a:r>
              <a:rPr sz="125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. 헤더는 include로 따라 들어온다.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호출 구조 — 샘플 하나가 지나가는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pic>
        <p:nvPicPr>
          <p:cNvPr id="4" name="Picture 3" descr="h01_cod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60" y="1115568"/>
            <a:ext cx="10231798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config.h — 크기와 자료형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1206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src/config.h (전문)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120640" cy="2240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#define I_SIZE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#define H_SIZE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#define NUM_LAYERS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#define TIME_STEP 64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typedef ap_fixed&lt;16,2, AP_RND, AP_SAT&gt; data_t;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typedef ap_fixed&lt;16,2, AP_RND, AP_SAT&gt; weight_t;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typedef ap_fixed&lt;18,3, AP_RND, AP_SAT&gt; accum_t;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720" y="1115568"/>
          <a:ext cx="5989319" cy="2639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1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7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어디에 쓰이나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I_SIZE, H_SIZE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GRU 입력·은닉 크기 (=5)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행렬 크기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NUM_LAYERS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GRU 층 수 (=3)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LAYER_LOOP, 가중치 배열 1차원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TIME_STEP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ResGRU 한 번 호출에 처리하는 샘플 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LOOP_T 반복 수, IQ_seq 크기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data_t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활성화·층 사이 값·bias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FEx, 게이트, h, 출력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weight_t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가중치, σ(S_n), PReLU a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W, gating_params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accum_t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행렬곱 누산기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MAC_PE의 acc, x_inj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Picture 6" descr="h05_ap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13" y="3840480"/>
            <a:ext cx="5888892" cy="2011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3886200"/>
            <a:ext cx="4389120" cy="23774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50" b="1" dirty="0" err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주의</a:t>
            </a:r>
            <a:endParaRPr sz="1350" b="1" dirty="0">
              <a:solidFill>
                <a:srgbClr val="D95A1E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87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ap_fixed</a:t>
            </a:r>
            <a:r>
              <a:rPr sz="1187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&lt;16,2&gt;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표현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범위는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[−2, 2)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범위를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넘는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값은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AP_SAT로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포화</a:t>
            </a:r>
            <a:endParaRPr sz="125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가중치·중간값의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범위는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87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hw_ref.py --</a:t>
            </a:r>
            <a:r>
              <a:rPr sz="1187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dump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확인할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수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있다</a:t>
            </a:r>
            <a:endParaRPr sz="125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v1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규칙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data_t·weight_t는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16비트 </a:t>
            </a:r>
            <a:r>
              <a:rPr sz="125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단어</a:t>
            </a:r>
            <a:r>
              <a:rPr sz="125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고정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정수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소수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배분과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accum_t는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자유</a:t>
            </a:r>
            <a:endParaRPr sz="125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5943600"/>
            <a:ext cx="6766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ap_fixed&lt;W, I, 반올림, 넘침&gt;: W 전체 비트, I 정수 비트(부호 포함). 자세한 내용은 PART 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top 함수 ResGRU — 인터페이스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66928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src/multi_gru.cpp (요약)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669280" cy="4297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void ResGRU(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data_t   IQ_seq[TIME_STEP][2],   </a:t>
            </a:r>
            <a:r>
              <a:rPr sz="103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입력 64샘플 (I,Q)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data_t   OUT_seq[TIME_STEP][2],  </a:t>
            </a:r>
            <a:r>
              <a:rPr sz="103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출력 64샘플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weight_t W_inj[H_SIZE][6],       </a:t>
            </a:r>
            <a:r>
              <a:rPr sz="103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입력 투영 6-&gt;5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data_t   b_inj[H_SIZE],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weight_t prelu_param,            </a:t>
            </a:r>
            <a:r>
              <a:rPr sz="103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PReLU 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weight_t gating_params[NUM_LAYERS],  </a:t>
            </a:r>
            <a:r>
              <a:rPr sz="103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σ(S_n)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weight_t W_ir[NUM_LAYERS][H_SIZE][H_SIZE],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weight_t W_hr[...], W_iz[...], W_hz[...],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weight_t W_in[...], W_hn[...],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data_t   b_ir[NUM_LAYERS][H_SIZE], b_hr[...],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data_t   b_iz[...], b_hz[...], b_in[...], b_hn[...],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weight_t W_out[2][H_SIZE],       </a:t>
            </a:r>
            <a:r>
              <a:rPr sz="103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출력 투영 5-&gt;2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data_t   b_out[2]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  #pragma HLS DATAFLOW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static data_t h_state_all[NUM_LAYERS][H_SIZE];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  #pragma HLS ARRAY_PARTITION variable=h_state_all complete dim=1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  #pragma HLS ARRAY_PARTITION variable=h_state_all complete dim=2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  #pragma HLS ARRAY_PARTITION variable=W_inj complete dim=1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...  </a:t>
            </a:r>
            <a:r>
              <a:rPr sz="103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모든 가중치 배열 complete partition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115568"/>
          <a:ext cx="5440679" cy="2779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3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인자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golden/weights 파일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W_inj, b_inj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W_inj.txt, b_inj.txt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prelu_param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prelu.txt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gating_params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gating.txt (σ 적용된 값)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W_ir … W_hn (층 l)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L{l}_W_ir.txt … L{l}_W_hn.txt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b_ir … b_hn (층 l)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L{l}_b_ir.txt … L{l}_b_hn.txt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W_out, b_out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W_out.txt, b_out.txt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IQ_seq (입력)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vectors/dpd_in.txt (7,680 × 2)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09360" y="4069080"/>
            <a:ext cx="5440680" cy="22860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 dirty="0" err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읽는</a:t>
            </a:r>
            <a:r>
              <a:rPr sz="1300" b="1" dirty="0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 법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배열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인자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기본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ap_memory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포트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(BRAM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주소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포트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ARRAY_PARTITION complete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배열을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낱개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레지스터로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쪼갬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한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cycle에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모두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읽기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가능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static </a:t>
            </a:r>
            <a:r>
              <a:rPr sz="1139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h_state_all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호출이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끝나도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값이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남는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은닉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상태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저장소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시간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t−1 → t)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DATAFLOW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함수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안의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단계를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겹쳐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실행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(PART 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ResGRU 본문 — LOOP_T (시간 루프)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69494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src/multi_gru.cpp:308-351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6949440" cy="4937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LOOP_T: for (int t = 0; t &lt; TIME_STEP; t++)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    #pragma HLS PIPELINE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FFD700"/>
                </a:solidFill>
                <a:latin typeface="Consolas"/>
                <a:ea typeface="맑은 고딕"/>
                <a:cs typeface="맑은 고딕"/>
              </a:rPr>
              <a:t>    bool rst = (t == 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FEx : FExLayer&lt;data_t&gt;(IQ_seq[t][0], IQ_seq[t][1], x_w_fex);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IN_INJECT : Linear&lt;6,H_SIZE,data_t,weight_t,accum_t&gt;(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           x_w_fex, W_inj, b_inj, x_inj);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PReLU : nnet::prelu&lt;accum_t,data_t,weight_t,H_SIZE&gt;(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           x_inj, gru_in, prelu_param);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copy_row&lt;H_SIZE&gt;(gru_in, layer_in[0]);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LAYER_LOOP: for (int l = 0; l &lt; NUM_LAYERS; l++)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        #pragma HLS PIPELINE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FFD700"/>
                </a:solidFill>
                <a:latin typeface="Consolas"/>
                <a:ea typeface="맑은 고딕"/>
                <a:cs typeface="맑은 고딕"/>
              </a:rPr>
              <a:t>        GRU_single(layer_in[l], (t==0), h_state_all[l], layer_out[l],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          W_ir[l], W_hr[l], W_iz[l], W_hz[l], W_in[l], W_hn[l],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          b_ir[l], b_hr[l], b_iz[l], b_hz[l], b_in[l], b_hn[l]);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copy_row&lt;H_SIZE&gt;(layer_out[l], h_state_all[l]);   </a:t>
            </a:r>
            <a:r>
              <a:rPr sz="103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상태 저장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RES_J: for (int i = 0; i &lt; H_SIZE;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            #pragma HLS UNROLL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   layer_in[l+1][i] = layer_out[l][i]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                    + gating_params[l] * layer_in[l][i];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copy_row&lt;H_SIZE&gt;(layer_in[NUM_LAYERS], gru_out);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OUT : Linear&lt;H_SIZE,2,data_t,weight_t,data_t&gt;(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     gru_out, W_out, b_out, OUT_seq[t]);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115568"/>
            <a:ext cx="4160520" cy="5303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한 줄씩</a:t>
            </a:r>
          </a:p>
          <a:p>
            <a:pPr marL="205740" indent="-16002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LOOP_T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64샘플을 하나씩. PIPELINE → 샘플마다 겹쳐 실행</a:t>
            </a:r>
          </a:p>
          <a:p>
            <a:pPr marL="205740" indent="-16002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FEx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(I, Q) → 특징 6개</a:t>
            </a:r>
          </a:p>
          <a:p>
            <a:pPr marL="205740" indent="-16002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IN_INJECT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6→5 선형층, 누산은 accum_t</a:t>
            </a:r>
          </a:p>
          <a:p>
            <a:pPr marL="205740" indent="-16002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PReLU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accum_t → data_t로 변환되며 활성화</a:t>
            </a:r>
          </a:p>
          <a:p>
            <a:pPr marL="205740" indent="-16002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LAYER_LOOP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GRU 3층. 바깥이 PIPELINE이라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자동으로 완전 펼침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(층 3개가 각각 하드웨어)</a:t>
            </a:r>
          </a:p>
          <a:p>
            <a:pPr marL="205740" indent="-16002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GRU_single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층 l의 셀 계산, </a:t>
            </a: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h_state_all[l]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읽고 새 h를 씀</a:t>
            </a:r>
          </a:p>
          <a:p>
            <a:pPr marL="205740" indent="-16002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RES_J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층별 잔차 </a:t>
            </a: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x_{n} = h + σ(S_n)·x_{n-1}</a:t>
            </a:r>
          </a:p>
          <a:p>
            <a:pPr marL="205740" indent="-16002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OUT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5→2 선형층 → 출력 I, Q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노란 줄</a:t>
            </a:r>
          </a:p>
          <a:p>
            <a:pPr marL="205740" indent="-16002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t == 0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일 때 GRU_single의 reset이 켜진다 →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ResGRU를 한 번 부를 때(64샘플)마다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은닉 상태가 0에서 시작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FExLayer — 특징 추출 (linear_layer.h)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667512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src/linear_layer.h:49-81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6675120" cy="3886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template&lt;typename data_T&gt;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void FExLayer(data_T Ix, data_T Qx, data_T out[6])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INLINE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data_T amp, amp2, amp3, phase, sin_theta, cos_theta;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amp2 = Ix * Ix + Qx * Qx;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data_T delta = amp2 - data_T(1);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1/sqrt(amp2)의 초기값: 테일러 전개 (amp2 = 1 근처)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data_T inv_sqrt = data_T(1) - data_T(0.5)*delta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           + data_T(0.375)*delta*delta;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for (int i = 0; i &lt; 4; i++) {    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Newton-Raphson 4회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inv_sqrt = inv_sqrt * (data_T(1.5)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        - data_T(0.5) * amp2 * inv_sqrt * inv_sqrt);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amp  = amp2 * inv_sqrt;          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|x| = x^2 / |x|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amp3 = amp * amp2;               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|x|^3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sin_theta = Qx * inv_sqrt;       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Q / |x|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cos_theta = Ix * inv_sqrt;       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I / |x|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out[0]=Ix; out[1]=Qx; out[2]=amp; out[3]=amp3;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out[4]=sin_theta; out[5]=cos_theta;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15568"/>
            <a:ext cx="4434840" cy="23317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Newton-Raphson 역제곱근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목표: y = 1/√(amp2)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반복식: y ← y·(1.5 − 0.5·amp2·y²)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나눗셈·sqrt 없이 곱셈만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사용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초기값이 정확할수록 적은 반복으로 수렴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3611880"/>
            <a:ext cx="4434840" cy="26974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생각해 볼 점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모든 중간값(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amp2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delta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inv_sqrt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, …)이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data_T = data_t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형식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|x|가 아주 작으면 1/|x|는 아주 커진다 → data_t의 범위 안에 들어오는가?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for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4회 + 곱셈 다수 → LOOP_T 파이프라인 안에서 모두 펼쳐짐 (DSP 사용)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PyTorch FEx와의 차이는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hw_ref.py --fex nr / nr_fx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 분리해 잴 수 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394960"/>
            <a:ext cx="6675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논문 식(1): x_fex = [I, Q, |x|, |x|³, sin θ, cos θ].  논문 III-B: "FEx는 나눗셈·제곱근을 피하려고 Newton-Raphson으로 계산"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Linear · MVM_PE · MAC_PE — 행렬곱 (linear_layer.h)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667512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src/linear_layer.h:4-46 (요약)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6675120" cy="3840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template&lt;int LEN, typename data_T, typename weight_T, typename accum_T&gt;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accum_T MAC_PE(data_T x[LEN], weight_T w[LEN]) {   </a:t>
            </a:r>
            <a:r>
              <a:rPr sz="1019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내적 1개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INLINE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accum_T acc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for (int i = 0; i &lt; LEN;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        #pragma HLS PIPELINE II=1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acc += accum_T(x[i] * w[i]);   </a:t>
            </a:r>
            <a:r>
              <a:rPr sz="1019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곱 -&gt; accum_T로 변환 후 누산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return acc;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template&lt;int IN, int OUT, ...&gt;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void MVM_PE(data_T x[IN], weight_T W[OUT][IN], accum_T y[OUT])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INLINE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ARRAY_PARTITION variable=W complete dim=1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ARRAY_PARTITION variable=W complete dim=2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for (int o = 0; o &lt; OUT; o++)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        #pragma HLS UNROLL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y[o] = MAC_PE&lt;IN, ...&gt;(x, W[o]);      </a:t>
            </a:r>
            <a:r>
              <a:rPr sz="1019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출력마다 내적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Linear = MVM_PE + bias:  y[o] = MAC_PE(x, W[o]) + b[o]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115568"/>
          <a:ext cx="4434839" cy="246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행렬곱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곱셈 수 / 샘플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IN_INJECT (6→5)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GRU 층 1개: W_i·x 3개 + W_h·h 3개 (5×5)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150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GRU 3층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450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OUT (5→2)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게이트·잔차·FEx 곱셈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수십 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4069080"/>
            <a:ext cx="4434840" cy="224028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 dirty="0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이 </a:t>
            </a:r>
            <a:r>
              <a:rPr sz="1300" b="1" dirty="0" err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코드가</a:t>
            </a:r>
            <a:r>
              <a:rPr sz="1300" b="1" dirty="0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만드는</a:t>
            </a:r>
            <a:r>
              <a:rPr sz="1300" b="1" dirty="0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하드웨어</a:t>
            </a:r>
            <a:endParaRPr sz="1300" b="1" dirty="0">
              <a:solidFill>
                <a:srgbClr val="2366B7"/>
              </a:solidFill>
              <a:latin typeface="맑은 고딕"/>
              <a:ea typeface="맑은 고딕"/>
              <a:cs typeface="맑은 고딕"/>
            </a:endParaRP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PIPELINE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영역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안의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루프는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HLS가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자동으로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완전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펼침</a:t>
            </a:r>
            <a:endParaRPr sz="1200" b="1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INLINE으로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모두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LOOP_T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안에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들어가므로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, 위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곱셈이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전부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동시에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존재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구현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후 DSP 648개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x[</a:t>
            </a:r>
            <a:r>
              <a:rPr sz="1139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i</a:t>
            </a: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] * w[</a:t>
            </a:r>
            <a:r>
              <a:rPr sz="1139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i</a:t>
            </a: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]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의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곱은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넓은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형식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39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accum_T</a:t>
            </a: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(...)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에서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반올림·포화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5349240"/>
            <a:ext cx="6675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곱셈 하나가 DSP 하나라고 가정하면 자원은 "곱셈 수"에 비례한다. 같은 곱셈기를 여러 번 쓰면(시분할) 자원은 줄지만 II가 늘어난다 → 트레이드오프.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GRU_single · GRU_Kernel_PE — GRU 셀의 행렬곱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60350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src/multi_gru.cpp:10-68 (요약)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6035040" cy="3017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void GRU_single(data_t x[I_SIZE], bool reset,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       data_t h_prev[H_SIZE], data_t h_next[H_SIZE], ...)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    #pragma HLS INLINE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data_t h_state[H_SIZE];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RESET_LOOP: for (int i = 0; i &lt; H_SIZE;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        #pragma HLS UNROLL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h_state[i] = reset ? data_t(0) : h_prev[i];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accum_t W_ir_x[H_SIZE], W_iz_x[H_SIZE], W_in_x[H_SIZE];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accum_t W_hr_h[H_SIZE], W_hz_h[H_SIZE], W_hn_h[H_SIZE];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GRU_Kernel_PE&lt;...&gt;(x, h_state, W_ir, W_iz, W_in, W_hr, W_hz, W_hn,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              W_ir_x, W_iz_x, W_in_x, W_hr_h, W_hz_h, W_hn_h);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Gate_Calc_PE&lt;...&gt;(W_ir_x, W_hr_h, b_ir, b_hr, W_iz_x, W_hz_h, b_iz, b_hz,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             W_in_x, W_hn_h, b_in, b_hn, h_state, h_next);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526280"/>
            <a:ext cx="603504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gru_cell.h — GRU_Kernel_PE: 행렬곱 6개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MVM_PE&lt;IN,H&gt;(x, W_ir, W_ir_x);   MVM_PE&lt;H,H&gt;(h_prev, W_hr, W_hr_h);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MVM_PE&lt;IN,H&gt;(x, W_iz, W_iz_x);   MVM_PE&lt;H,H&gt;(h_prev, W_hz, W_hz_h);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MVM_PE&lt;IN,H&gt;(x, W_in, W_in_x);   MVM_PE&lt;H,H&gt;(h_prev, W_hn, W_hn_h);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115568"/>
            <a:ext cx="5074920" cy="228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PyTorch nn.GRU 수식 (학습에 쓴 것)</a:t>
            </a:r>
          </a:p>
          <a:p>
            <a:pPr marL="219075" indent="-173355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r = σ(W_ir·x + b_ir + W_hr·h + b_hr)</a:t>
            </a:r>
          </a:p>
          <a:p>
            <a:pPr marL="219075" indent="-173355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z = σ(W_iz·x + b_iz + W_hz·h + b_hz)</a:t>
            </a:r>
          </a:p>
          <a:p>
            <a:pPr marL="219075" indent="-173355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n = tanh(W_in·x + b_in + r ⊙ (W_hn·h + b_hn))</a:t>
            </a:r>
          </a:p>
          <a:p>
            <a:pPr marL="219075" indent="-173355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h' = (1 − z) ⊙ n + z ⊙ 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520440"/>
            <a:ext cx="5074920" cy="28346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HW 관점 포인트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x에 곱하는 3개(W_i·x)는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h를 기다릴 필요 없음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미리 계산 가능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h에 곱하는 3개(W_h·h)는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이전 시간의 h가 나와야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시작 가능 → </a:t>
            </a:r>
            <a:r>
              <a:rPr sz="125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재귀 경로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재귀 경로: h(t−1) → W_h·h → 게이트(σ, tanh) → h(t) → 다음 샘플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 경로의 길이가 LOOP_T의 II를 결정한다 (PART 4 '반복 사이 의존성')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Gate_Calc_PE · 활성화 함수 — 게이트와 상태 갱신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64008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src/gru_cell.h:94-112 (Gate_Calc_PE)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6400800" cy="2880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GATE_LOOP: for (int i = 0; i &lt; HIDDEN_SIZE;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    #pragma HLS UNROLL factor=1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    #pragma HLS PIPELINE II=1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r_pre = W_ir_x[i] + b_ir_local[i] + W_hr_h[i] + b_hr_local[i];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nnet::my_hard_sigmoid&lt;data_T,data_T&gt;(r_pre, 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r_h   = r * (W_hn_h[i] + b_hn_local[i]);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n_pre = W_in_x[i] + b_in_local[i] + r_h;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nnet::my_hard_tanh&lt;data_T,data_T&gt;(n_pre, 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z_pre = W_iz_x[i] + b_iz_local[i] + W_hz_h[i] + b_hz_local[i];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nnet::my_hard_sigmoid&lt;data_T,data_T&gt;(z_pre, z);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one_minus_z = (data_T)(1.0) - z;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h_next[i] = one_minus_z * n + z * h_prev[i];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389120"/>
            <a:ext cx="64008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src/activations.h:49-62 (요약)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663440"/>
            <a:ext cx="6400800" cy="1691639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template &lt;typename in_T, typename out_T&gt;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void my_hard_sigmoid(in_T in, out_T &amp;out)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out_T y = (out_T)(0.2) * out_T(in) + (out_T)(0.5);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if (y &gt; 1) y = 1;  else if (y &lt; 0) y = 0;   out = y;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template &lt;typename in_T, typename out_T&gt;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void my_hard_tanh(in_T in, out_T &amp;out)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if (in &gt; 1) out = 1; else if (in &lt; -1) out = -1; else out = in; 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40880" y="1115568"/>
          <a:ext cx="4709159" cy="2304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5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4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 변수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수식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r_pre / r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W_ir·x + b_ir + W_hr·h + b_hr / σ(·)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r_h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 ⊙ (W_hn·h + b_hn)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n_pre / n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W_in·x + b_in + r_h / tanh(·)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z_pre / z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W_iz·x + b_iz + W_hz·h + b_hz / σ(·)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h_next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(1 − z)·n + z·h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040880" y="3657600"/>
            <a:ext cx="4709160" cy="2697480"/>
          </a:xfrm>
          <a:prstGeom prst="roundRect">
            <a:avLst>
              <a:gd name="adj" fmla="val 8000"/>
            </a:avLst>
          </a:prstGeom>
          <a:solidFill>
            <a:srgbClr val="FDEFE6"/>
          </a:solidFill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생각해 볼 점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계산 순서: r → n → z → h. r과 n이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직렬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(n이 r을 기다림)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게이트 중간값이 모두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data_T(=data_t)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로 반올림·포화된다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활성화는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직선을 잘라 붙인 근사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(hard sigmoid: 0.2x+0.5, hard tanh: x를 ±1로 자름)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학습(PyTorch)은 정확한 σ, tanh. 논문 III-B의 HW 설명과도 직접 비교해 볼 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나머지</a:t>
            </a:r>
            <a:r>
              <a:rPr sz="26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6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코드</a:t>
            </a:r>
            <a:r>
              <a:rPr sz="26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26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prelu</a:t>
            </a:r>
            <a:r>
              <a:rPr sz="26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26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copy_row</a:t>
            </a:r>
            <a:r>
              <a:rPr sz="26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26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출력</a:t>
            </a:r>
            <a:endParaRPr sz="2600" b="1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76072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activations.h — prelu (요약)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760720" cy="1325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template &lt;typename in_T, typename out_T, typename param_T, int SIZE&gt;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void prelu(in_T in[SIZE], out_T out[SIZE], param_T param)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for (int i = 0; i &lt; SIZE;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    #pragma HLS UNROLL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out[i] = (in[i] &gt; 0) ? out_T(in[i]) : out_T(param * in[i]); } }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017520"/>
            <a:ext cx="576072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utils.h — copy_row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291839"/>
            <a:ext cx="576072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template &lt;int D, typename T&gt;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void copy_row(const T in[D], T out[D])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INLINE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for (int i = 0; i &lt; D;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UNROLL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out[i] = in[i]; }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4572000"/>
            <a:ext cx="8212567" cy="8257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prelu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부호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비교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+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조건부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곱셈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1개 (a = </a:t>
            </a:r>
            <a:r>
              <a:rPr sz="1187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prelu_param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copy_row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하드웨어에서는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배선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뿐 (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펼쳐진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복사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OUT: </a:t>
            </a:r>
            <a:r>
              <a:rPr sz="1187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Linear&lt;H_SIZE,2,data_t,weight_t,data_t&gt;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출력층은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누산기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타입으로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data_t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그대로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115568"/>
          <a:ext cx="5349240" cy="30083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쓰이지 않는 코드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MultiLayerGRU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GRU_multi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잔차 없는 다층 GRU (이전 실험)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ResJ_multi_GRU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x0를 매 층에 주입하는 다른 잔차 방식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GRU_Cell_PE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Copy_Bias_PE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일부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DATAFLOW 버전 GRU 셀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gru_cell.cpp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GRU (빌드 안 됨)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activations.h</a:t>
                      </a: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대부분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hls4ml의 sigmoid/tanh 표, softmax 등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wrapper.cpp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논문 측정용 top. BRAM/URAM에 가중치 저장, 샘플마다 ResGRU 호출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대응표 — PyTorch ↔ HLS ↔ golden ↔ hw_ref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15568"/>
          <a:ext cx="11338560" cy="45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블록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PyTorch (opendpd_min)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HLS (src/)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golden/weights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hw_ref.py 옵션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FEx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cgru.py ResidualRNNBlock (sqrt, 나눗셈)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FExLayer (NR 4회)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--fex exact | nr | nr_fx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투영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W_in (Linear 6→5)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Linear (IN_INJECT)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W_inj, b_inj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PReLU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in_act (degree=−7)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nnet::prelu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prelu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GRU 행렬곱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nn.GRU weight_ih / weight_hh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GRU_Kernel_PE (MVM_PE × 6)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L{l}_W_i{r,z,n}, L{l}_W_h{r,z,n}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--weight_t, --accum_t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게이트·활성화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nn.GRU (정확한 σ, tanh)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Gate_Calc_PE + my_hard_*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L{l}_b_*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--act exact | hard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 유지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2,560 샘플 구간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static h_state_all, t==0 리셋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manifest.json segment_len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--reset_every N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층별 잔차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= out + σ(gate)·x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RES_J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gating (σ 적용됨)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 투영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fc_out (Linear 5→2)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Linear (OUT)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W_out, b_out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자료형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float32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data_t / weight_t / accum_t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--data_t, --fxp hls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806440"/>
            <a:ext cx="113385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golden/vectors: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dpd_in.txt</a:t>
            </a:r>
            <a:r>
              <a:rPr sz="125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 (입력 7,680 × 2) ·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torch_out.txt</a:t>
            </a:r>
            <a:r>
              <a:rPr sz="125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 (PyTorch 출력, 2,560 구간마다 상태 0).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5798"/>
            <a:ext cx="292608" cy="6642201"/>
          </a:xfrm>
          <a:prstGeom prst="rect">
            <a:avLst/>
          </a:prstGeom>
          <a:solidFill>
            <a:srgbClr val="236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002856"/>
                </a:solidFill>
                <a:latin typeface="맑은 고딕"/>
                <a:ea typeface="맑은 고딕"/>
                <a:cs typeface="맑은 고딕"/>
              </a:rPr>
              <a:t>배포 자료와 우선 과제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46120"/>
            <a:ext cx="5074920" cy="0"/>
          </a:xfrm>
          <a:prstGeom prst="line">
            <a:avLst/>
          </a:prstGeom>
          <a:ln w="25400">
            <a:solidFill>
              <a:srgbClr val="236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3474720"/>
            <a:ext cx="10515600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패키지 구성과 도구</a:t>
            </a:r>
          </a:p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Vitis HLS 2024.1에서 v0 돌려 보기 (C-sim → 합성 → 구현)</a:t>
            </a:r>
          </a:p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v0의 성능 열화 — 논문 결과와 비교</a:t>
            </a:r>
          </a:p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반드시 지켜야 할 조건과 우선 과제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배포 패키지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5778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배포 저장소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577840" cy="4983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lw_resgru/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├─ README.md            빠른 시작, 도구 설명, 기준 수치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├─ docs/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│  ├─ PBL_학생안내_...md  과제 안내 (목표·로드맵·규칙)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│  ├─ v0_알려진문제.md     P1~P4 증상과 측정 손실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│  ├─ 작업환경_가이드.md   설치·실행·문제 해결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│  └─ ppa_history_template.md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├─ src/                 HLS v0 (11개 파일)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├─ tb/tb_resgru.cpp     학습 가중치를 읽는 testbench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├─ scripts/run_resgru.tcl   빌드 스크립트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├─ golden/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│  ├─ weights/          가중치 txt 47개 + manifest.json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│  └─ vectors/          dpd_in.txt, torch_out.txt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├─ tools/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│  ├─ hw_ref.py         HLS와 같은 순서의 Python 참조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│  ├─ compare_out.py    HLS 출력 vs 참조 (PASS/FAIL)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│  └─ eval_pa.py        PA 대리모델 → NMSE/EVM/ACPR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├─ opendpd_min/         eval_pa 실행용 OpenDPD 최소 구성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│                       + 데이터셋 + PA·DPD 모델(.pt)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└─ results/             (비어 있음) 여러분의 출력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63640" y="1115568"/>
          <a:ext cx="5486399" cy="2688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무엇을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어디서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v0 소스를 고친다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src/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가중치로 C-sim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tb/ + scripts/ (자동)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계산을 Python으로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tools/hw_ref.py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HLS가 맞게 구현됐나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tools/compare_out.py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목표를 넘나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tools/eval_pa.py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기록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docs/ppa_history_template.md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63640" y="3977639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 w="15875">
            <a:solidFill>
              <a:srgbClr val="8A8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50" b="1" dirty="0" err="1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준비물</a:t>
            </a:r>
            <a:endParaRPr sz="1350" b="1" dirty="0">
              <a:solidFill>
                <a:srgbClr val="8A8985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Python: </a:t>
            </a:r>
            <a:r>
              <a:rPr sz="1187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hw_ref.py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87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compare_out.py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는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numpy만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87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eval_pa.py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는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torch (CPU)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25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패키지는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한글·공백</a:t>
            </a:r>
            <a:r>
              <a:rPr sz="125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없는</a:t>
            </a:r>
            <a:r>
              <a:rPr sz="125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경로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(예: </a:t>
            </a:r>
            <a:r>
              <a:rPr sz="1187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C:\work\lw_resgru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도구</a:t>
            </a:r>
            <a:r>
              <a:rPr sz="26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① hw_ref.py — </a:t>
            </a:r>
            <a:r>
              <a:rPr sz="26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HLS를</a:t>
            </a:r>
            <a:r>
              <a:rPr sz="26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6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흉내</a:t>
            </a:r>
            <a:r>
              <a:rPr sz="26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6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내는</a:t>
            </a:r>
            <a:r>
              <a:rPr sz="26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Python </a:t>
            </a:r>
            <a:r>
              <a:rPr lang="en-US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reference</a:t>
            </a:r>
            <a:endParaRPr sz="2600" b="1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15568"/>
          <a:ext cx="676656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옵션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--act exact | hard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정확한 σ/tanh | v0의 hard σ/tanh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--fex exact | nr | nr_fx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정확한 FEx | v0 FEx 식(float) | v0 식 +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&lt;16,2&gt;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포화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--reset_every N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N샘플마다 상태 리셋 (기본 2560 = golden, v0는 64)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--data_t / --weight_t / --accum_t W,I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ap_fixed&lt;W,I,AP_RND,AP_SAT&gt;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 HLS와 같은 위치에서 양자화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--fxp hls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v0 타입 일괄 (16,2 / 16,2 / 18,3)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--dump DIR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중간값(fex, prelu, layerN) 저장 → 범위 분석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--ref FILE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결과를 다른 출력과 바로 비교 (NMSE)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406640" y="1115568"/>
            <a:ext cx="43434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예시 (Windows 명령 프롬프트)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389888"/>
            <a:ext cx="4343400" cy="2103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# PyTorch와 같은가? (-100 dB 이하면 정상)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python tools/hw_ref.py --golden golden ^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--out results/ref_exact.txt ^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--ref golden/vectors/torch_out.txt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# v0와 같은 동작 재현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python tools/hw_ref.py --golden golden ^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--fxp hls --act hard --fex nr_fx ^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--reset_every 64 --out results/ref_v0.txt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703320"/>
            <a:ext cx="4343400" cy="26517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 dirty="0" err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쓰는</a:t>
            </a:r>
            <a:r>
              <a:rPr sz="1300" b="1" dirty="0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 법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옵션을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하나씩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켜서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eval_pa로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재면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각 </a:t>
            </a:r>
            <a:r>
              <a:rPr lang="ko-KR" altLang="en-US" sz="1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옵션이 어떤 이득</a:t>
            </a:r>
            <a:r>
              <a:rPr lang="en-US" altLang="ko-KR" sz="1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손실을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야기하는지 </a:t>
            </a:r>
            <a:r>
              <a:rPr lang="ko-KR" altLang="en-US" sz="1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확인 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할 수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있다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HW를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바꾸면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hw_ref.py에도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계산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을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넣어야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HLS를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bit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단위로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검증할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수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있다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근사만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들어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있</a:t>
            </a:r>
            <a:r>
              <a:rPr lang="ko-KR" altLang="en-US"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음</a:t>
            </a:r>
            <a:r>
              <a:rPr lang="en-US" altLang="ko-KR"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새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근사는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직접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추가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도구 ② compare_out · eval_pa · testbench — 검증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pic>
        <p:nvPicPr>
          <p:cNvPr id="4" name="Picture 3" descr="fig07_verification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1416"/>
            <a:ext cx="6766560" cy="251726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4343400"/>
          <a:ext cx="6766560" cy="19019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질문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compare_out.py hls ref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HLS가 참조(hw_ref)와 같게 구현됐나?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NMSE, 최대 오차, 마지막 줄 PASS/FAIL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eval_pa.py --pa … a b c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PA를 통과시키면 정확도 목표를 넘나?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NMSE / EVM / ACPR L·R, 첫 파일 대비 Δ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tb_resgru.cpp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가중치로 HLS C-sim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results/hls_out.txt (7,680 × 2)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52360" y="1115568"/>
            <a:ext cx="4297680" cy="26517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testbench가 하는 일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golden 가중치를 이름으로 읽어 ResGRU 인자에 채움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64샘플씩 ResGRU를 호출 (TIME_STEP 블록)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-DRESET_ARG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(tcl: </a:t>
            </a: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set RESET_ARG=1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)로 빌드하면 마지막 인자로 "이번 블록이 2,560 구간의 시작인가"를 넘김 → ResGRU 인자를 바꿨을 때 사용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3931920"/>
            <a:ext cx="4297680" cy="24231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 dirty="0" err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주의</a:t>
            </a:r>
            <a:endParaRPr sz="1300" b="1" dirty="0">
              <a:solidFill>
                <a:srgbClr val="D95A1E"/>
              </a:solidFill>
              <a:latin typeface="맑은 고딕"/>
              <a:ea typeface="맑은 고딕"/>
              <a:cs typeface="맑은 고딕"/>
            </a:endParaRP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eval_pa.py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는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반드시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2,560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샘플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구간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단위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계산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로그와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방식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7,680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샘플을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한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번에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재면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이상적인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출력도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ACPR ≈ −34 dB →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숫자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opendpd_min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폴더에서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실행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Vitis HLS 2024.1 </a:t>
            </a:r>
            <a:r>
              <a:rPr sz="26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설치</a:t>
            </a:r>
            <a:r>
              <a:rPr sz="26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(Windows)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671417"/>
              </p:ext>
            </p:extLst>
          </p:nvPr>
        </p:nvGraphicFramePr>
        <p:xfrm>
          <a:off x="411480" y="1115568"/>
          <a:ext cx="658368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파일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AMD Unified Installer for FPGAs &amp; Adaptive SoCs </a:t>
                      </a:r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2024.1</a:t>
                      </a: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(AMD 계정 필요)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Product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Vitis</a:t>
                      </a: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(Vitis HLS·Vivado 포함)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Devices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Zynq UltraScale+ MPSoC만</a:t>
                      </a: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체크 (용량 절약)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디스크 / 메모리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 GB 이상 / 16 GB 이상 권장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무료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버전으로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xczu7ev </a:t>
                      </a:r>
                      <a:r>
                        <a:rPr sz="12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합성·구현</a:t>
                      </a:r>
                      <a:r>
                        <a:rPr sz="12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가능</a:t>
                      </a:r>
                      <a:endParaRPr sz="12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디바이스 · 클록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xczu7ev-ffvc1156-2-e, 15 ns (66 MHz)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0" y="2491650"/>
            <a:ext cx="4526280" cy="937350"/>
          </a:xfrm>
          <a:prstGeom prst="roundRect">
            <a:avLst>
              <a:gd name="adj" fmla="val 8000"/>
            </a:avLst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50" b="1" dirty="0" err="1">
                <a:solidFill>
                  <a:schemeClr val="tx1"/>
                </a:solidFill>
                <a:latin typeface="맑은 고딕"/>
                <a:ea typeface="맑은 고딕"/>
                <a:cs typeface="맑은 고딕"/>
              </a:rPr>
              <a:t>자주</a:t>
            </a:r>
            <a:r>
              <a:rPr sz="1350" b="1" dirty="0">
                <a:solidFill>
                  <a:schemeClr val="tx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chemeClr val="tx1"/>
                </a:solidFill>
                <a:latin typeface="맑은 고딕"/>
                <a:ea typeface="맑은 고딕"/>
                <a:cs typeface="맑은 고딕"/>
              </a:rPr>
              <a:t>생기는</a:t>
            </a:r>
            <a:r>
              <a:rPr sz="1350" b="1" dirty="0">
                <a:solidFill>
                  <a:schemeClr val="tx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chemeClr val="tx1"/>
                </a:solidFill>
                <a:latin typeface="맑은 고딕"/>
                <a:ea typeface="맑은 고딕"/>
                <a:cs typeface="맑은 고딕"/>
              </a:rPr>
              <a:t>문제</a:t>
            </a:r>
            <a:endParaRPr sz="1350" b="1" dirty="0">
              <a:solidFill>
                <a:schemeClr val="tx1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사용자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이름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폴더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경로에 한글이 포함 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X</a:t>
            </a:r>
            <a:endParaRPr sz="125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자세한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절차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187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docs/작업환경_가이드.md</a:t>
            </a:r>
            <a:endParaRPr sz="125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1480" y="4892040"/>
            <a:ext cx="11117132" cy="937350"/>
          </a:xfrm>
          <a:prstGeom prst="roundRect">
            <a:avLst>
              <a:gd name="adj" fmla="val 8000"/>
            </a:avLst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ctr"/>
          <a:lstStyle/>
          <a:p>
            <a:pPr algn="ctr">
              <a:spcAft>
                <a:spcPts val="300"/>
              </a:spcAft>
            </a:pPr>
            <a:r>
              <a:rPr sz="1400" b="1" dirty="0" err="1">
                <a:solidFill>
                  <a:schemeClr val="tx1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sz="1400" b="1" dirty="0">
              <a:solidFill>
                <a:schemeClr val="tx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설치가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끝나면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시작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메뉴에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"Vitis HLS 2024.1 Command Prompt"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가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생긴다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. 이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창에서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5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vitis_hls</a:t>
            </a:r>
            <a:r>
              <a:rPr sz="1235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 -version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2024.1이면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성공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 돌려 보기 ① C-sim (명령 프롬프트)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60350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endParaRPr sz="1000" dirty="0">
              <a:solidFill>
                <a:srgbClr val="CCCCCC"/>
              </a:solidFill>
              <a:latin typeface="Consolas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6035040" cy="2103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:: 시작 메뉴 &gt; "Vitis HLS 2024.1 Command Prompt"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cd /d C:\work\lw_resgru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set TEMP=C:\xtmp&amp; set TMP=C:\xtmp     :: 사용자 이름이 한글이면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vitis_hls -f scripts/run_resgru.tcl     :: 기본 STEPS = csim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python tools/hw_ref.py --golden golden --fxp hls --act hard ^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--fex nr_fx --reset_every 64 --out results/ref_v0.txt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python tools/compare_out.py results/hls_out.txt results/ref_v0.txt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657600"/>
            <a:ext cx="60350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 dirty="0" err="1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기대</a:t>
            </a:r>
            <a:r>
              <a:rPr sz="1000" dirty="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000" dirty="0" err="1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출력</a:t>
            </a:r>
            <a:endParaRPr sz="1000" dirty="0">
              <a:solidFill>
                <a:srgbClr val="CCCCCC"/>
              </a:solidFill>
              <a:latin typeface="Consolas"/>
              <a:ea typeface="맑은 고딕"/>
              <a:cs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" y="3931920"/>
            <a:ext cx="6035040" cy="2423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[TB] done: 7680 samples -&gt; C:/work/lw_resgru/results/hls_out.txt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INFO: [SIM 211-1] CSim done with 0 errors.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INFO: [SIM 211-3] *************** CSIM finish ***************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INFO: [HLS 200-112] Total elapsed time: 13.988 seconds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&gt; python tools/compare_out.py results/hls_out.txt results/ref_v0.txt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NMSE : -82.66 dB  ...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PASS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115568"/>
          <a:ext cx="5074919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9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run_resgru.tcl 환경변수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STEPS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csim csynth cosim impl 중 고르기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(기본 csim)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NT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 수 (기본 7680, cosim은 640 권장)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RESET_ARG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1이면 testbench가 reset 인자를 넘김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75120" y="3291840"/>
            <a:ext cx="5074920" cy="30632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 dirty="0" err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알아</a:t>
            </a:r>
            <a:r>
              <a:rPr sz="1300" b="1" dirty="0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 둘 것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cmd에서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환경변수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set STEPS=</a:t>
            </a:r>
            <a:r>
              <a:rPr sz="1139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csim</a:t>
            </a: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139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csynth</a:t>
            </a:r>
            <a:endParaRPr sz="1139" b="0" dirty="0">
              <a:solidFill>
                <a:srgbClr val="A31F34"/>
              </a:solidFill>
              <a:latin typeface="Consolas"/>
              <a:ea typeface="맑은 고딕"/>
              <a:cs typeface="맑은 고딕"/>
            </a:endParaRP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PowerShell이라면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$</a:t>
            </a:r>
            <a:r>
              <a:rPr sz="1139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env:STEPS</a:t>
            </a: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="</a:t>
            </a:r>
            <a:r>
              <a:rPr sz="1139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csim</a:t>
            </a: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139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csynth</a:t>
            </a: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"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(단 settings64.bat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환경이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필요하므로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Command Prompt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권장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프로젝트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폴더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39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prj_resgru</a:t>
            </a: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/sol1/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만들어진다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tcl은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매번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-</a:t>
            </a:r>
            <a:r>
              <a:rPr sz="1139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reset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으로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새로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만든다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compare_out이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PASS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= HLS</a:t>
            </a:r>
            <a:r>
              <a:rPr lang="ko-KR" altLang="en-US" sz="1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20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csim</a:t>
            </a:r>
            <a:r>
              <a:rPr lang="ko-KR" altLang="en-US" sz="1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 연산 오류가 없음 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 돌려 보기 ② C 합성 결과 읽기 (csynth)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64922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prj_resgru/sol1/syn/report/ResGRU_csynth.rpt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6492240" cy="2011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+ Timing: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|  Clock |  Target  | Estimated | Uncertainty|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|ap_clk  |  15.00 ns|  10.912 ns|     4.05 ns|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+ Latency: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|  Latency (cycles) | Latency (absolute) | Interval | Pipeline 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|   min   |   max   |   min   |   max    | min| max|   Type   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|      157|      157| 2.355 us| 2.355 us | 128| 128| dataflow |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611880"/>
            <a:ext cx="64922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Loop_LOOP_T_proc_csynth.rpt — 가장 중요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886200"/>
            <a:ext cx="649224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| Loop Name|  Latency min/max | Iteration|  II achieved | target | Trip | Pipelined|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|- LOOP_T  |    151 |    151  |        26|            2 |      1 |   64 |       yes|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5120640"/>
            <a:ext cx="64922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vitis_hls.log 검색어: "Pipelining result", "HLS 200-880"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394959"/>
            <a:ext cx="6492240" cy="960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INFO: [HLS 200-1470] Pipelining result : Target II = NA, Final II = 2,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Depth = 26, loop 'LOOP_T'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WARNING: [HLS 200-880] The II Violation in module 'Loop_LOOP_T_proc' ...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Unable to enforce a carried dependence constraint (II = 1, distance = 1)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78040" y="1115568"/>
          <a:ext cx="4572000" cy="246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v0 값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II (LOOP_T)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cycle마다 새 샘플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Iteration Latency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 하나가 들어가 나오기까지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Interval (ResGRU)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128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64샘플 × II 2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Estimated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10.912 ns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HLS 추정 (구현 후와 다름)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Uncertainty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4.05 ns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27 % 여유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178040" y="3977639"/>
            <a:ext cx="4572000" cy="2377440"/>
          </a:xfrm>
          <a:prstGeom prst="roundRect">
            <a:avLst>
              <a:gd name="adj" fmla="val 8000"/>
            </a:avLst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 dirty="0" err="1">
                <a:solidFill>
                  <a:schemeClr val="tx1"/>
                </a:solidFill>
                <a:latin typeface="맑은 고딕"/>
                <a:ea typeface="맑은 고딕"/>
                <a:cs typeface="맑은 고딕"/>
              </a:rPr>
              <a:t>읽는</a:t>
            </a:r>
            <a:r>
              <a:rPr sz="1300" b="1" dirty="0">
                <a:solidFill>
                  <a:schemeClr val="tx1"/>
                </a:solidFill>
                <a:latin typeface="맑은 고딕"/>
                <a:ea typeface="맑은 고딕"/>
                <a:cs typeface="맑은 고딕"/>
              </a:rPr>
              <a:t> 법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HLS는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II = 1을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시도했지만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반복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사이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의존성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h_state_all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때문에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II = 2로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합성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리포트의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LUT/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FF는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추정치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(v0: LUT 186,986로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크게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나옴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).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자원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비교는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반드시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구현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후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값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으로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 돌려 보기 ③ GUI로 결과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4778" y="2598039"/>
            <a:ext cx="4615302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2024.1은 </a:t>
            </a:r>
            <a:r>
              <a:rPr sz="1187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-classic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없이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87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-</a:t>
            </a:r>
            <a:r>
              <a:rPr sz="1187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p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쓰면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"Can only use '-p' with '-classic' HLS IDE"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오류</a:t>
            </a:r>
            <a:endParaRPr sz="125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처음에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Deprecation Notice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창 → </a:t>
            </a:r>
            <a:r>
              <a:rPr sz="125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Continue With Vitis HLS</a:t>
            </a: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왼쪽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Explorer → </a:t>
            </a:r>
            <a:r>
              <a:rPr sz="1187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sol1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87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syn/report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의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리포트를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더블클릭</a:t>
            </a:r>
            <a:endParaRPr sz="125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Analysis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관점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오른쪽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위) → Schedule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Viewer에서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LOOP_T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선택</a:t>
            </a:r>
            <a:endParaRPr sz="125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342ECC6-B02F-FAB6-2A67-00C81CAA6ACD}"/>
              </a:ext>
            </a:extLst>
          </p:cNvPr>
          <p:cNvGrpSpPr/>
          <p:nvPr/>
        </p:nvGrpSpPr>
        <p:grpSpPr>
          <a:xfrm>
            <a:off x="411480" y="1115568"/>
            <a:ext cx="6858000" cy="4519422"/>
            <a:chOff x="411480" y="1115568"/>
            <a:chExt cx="6309360" cy="403936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7B0A437-1219-EC6D-C8EB-452B3292A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" y="1115568"/>
              <a:ext cx="6309360" cy="4039362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411480" y="1115568"/>
              <a:ext cx="6309360" cy="37033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144" bIns="9144" rtlCol="0" anchor="ctr"/>
            <a:lstStyle/>
            <a:p>
              <a:pPr algn="ctr"/>
              <a:r>
                <a:rPr sz="1000">
                  <a:solidFill>
                    <a:srgbClr val="CCCCCC"/>
                  </a:solidFill>
                  <a:latin typeface="Consolas"/>
                  <a:ea typeface="맑은 고딕"/>
                  <a:cs typeface="맑은 고딕"/>
                </a:rPr>
                <a:t>tcl로 한 번 돌린 뒤, 같은 폴더에서</a:t>
              </a: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46A869D-3516-8113-55B4-4505A9D7C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1126" y="1153066"/>
              <a:ext cx="2890067" cy="295335"/>
            </a:xfrm>
            <a:prstGeom prst="rect">
              <a:avLst/>
            </a:prstGeom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DD6F89-9743-199E-4BDD-C98A828BE42F}"/>
              </a:ext>
            </a:extLst>
          </p:cNvPr>
          <p:cNvSpPr/>
          <p:nvPr/>
        </p:nvSpPr>
        <p:spPr>
          <a:xfrm>
            <a:off x="1908810" y="2777490"/>
            <a:ext cx="1520190" cy="194310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C7D7E77-ECDF-1AD8-2712-0D8D8C17069E}"/>
              </a:ext>
            </a:extLst>
          </p:cNvPr>
          <p:cNvSpPr/>
          <p:nvPr/>
        </p:nvSpPr>
        <p:spPr>
          <a:xfrm>
            <a:off x="1409700" y="3111546"/>
            <a:ext cx="2019300" cy="194310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E63E19-C6A1-5D6F-5A16-722C337AE4FB}"/>
              </a:ext>
            </a:extLst>
          </p:cNvPr>
          <p:cNvSpPr txBox="1"/>
          <p:nvPr/>
        </p:nvSpPr>
        <p:spPr>
          <a:xfrm>
            <a:off x="2560320" y="1784369"/>
            <a:ext cx="461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프로젝트 위치로 이동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en-US" altLang="ko-KR" dirty="0" err="1">
                <a:solidFill>
                  <a:schemeClr val="bg1"/>
                </a:solidFill>
              </a:rPr>
              <a:t>vitis_hls</a:t>
            </a:r>
            <a:r>
              <a:rPr lang="en-US" altLang="ko-KR" dirty="0">
                <a:solidFill>
                  <a:schemeClr val="bg1"/>
                </a:solidFill>
              </a:rPr>
              <a:t> project</a:t>
            </a:r>
            <a:r>
              <a:rPr lang="ko-KR" altLang="en-US" dirty="0">
                <a:solidFill>
                  <a:schemeClr val="bg1"/>
                </a:solidFill>
              </a:rPr>
              <a:t>열기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AD9F0448-FE35-A366-DC70-25CFD1F16125}"/>
              </a:ext>
            </a:extLst>
          </p:cNvPr>
          <p:cNvSpPr/>
          <p:nvPr/>
        </p:nvSpPr>
        <p:spPr>
          <a:xfrm>
            <a:off x="1097279" y="890097"/>
            <a:ext cx="54864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tcl로 한 번 돌린 뒤, 같은 폴더에서</a:t>
            </a:r>
          </a:p>
        </p:txBody>
      </p:sp>
    </p:spTree>
    <p:extLst>
      <p:ext uri="{BB962C8B-B14F-4D97-AF65-F5344CB8AC3E}">
        <p14:creationId xmlns:p14="http://schemas.microsoft.com/office/powerpoint/2010/main" val="759563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 돌려 보기 ③ GUI로 결과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D2C0AC8-9E1F-4AC4-930F-ED9211AB0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35" y="896214"/>
            <a:ext cx="11002730" cy="585205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251FA5-72A5-CC05-18B7-68C07E55329D}"/>
              </a:ext>
            </a:extLst>
          </p:cNvPr>
          <p:cNvSpPr/>
          <p:nvPr/>
        </p:nvSpPr>
        <p:spPr>
          <a:xfrm>
            <a:off x="2583180" y="2125980"/>
            <a:ext cx="1611630" cy="64008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D2ACE6-743B-694B-D64D-B2AF0BE372F0}"/>
              </a:ext>
            </a:extLst>
          </p:cNvPr>
          <p:cNvSpPr/>
          <p:nvPr/>
        </p:nvSpPr>
        <p:spPr>
          <a:xfrm>
            <a:off x="2583180" y="2876208"/>
            <a:ext cx="6092190" cy="758531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D7A3C0-26A6-9594-6532-C44B20AF17DF}"/>
              </a:ext>
            </a:extLst>
          </p:cNvPr>
          <p:cNvSpPr txBox="1"/>
          <p:nvPr/>
        </p:nvSpPr>
        <p:spPr>
          <a:xfrm>
            <a:off x="4211122" y="2354889"/>
            <a:ext cx="4615302" cy="8223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lang="en-US" sz="1250" b="0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Timing </a:t>
            </a:r>
            <a:r>
              <a:rPr lang="ko-KR" altLang="en-US" sz="1250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정보</a:t>
            </a:r>
            <a:endParaRPr lang="en-US" altLang="ko-KR" sz="1250" dirty="0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endParaRPr lang="en-US" sz="1250" b="0" dirty="0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lang="en-US" sz="1250" b="0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Performance</a:t>
            </a:r>
            <a:r>
              <a:rPr lang="ko-KR" altLang="en-US" sz="1250" b="0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250" b="0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&amp;</a:t>
            </a:r>
            <a:r>
              <a:rPr lang="ko-KR" altLang="en-US" sz="1250" b="0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250" b="0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Resource</a:t>
            </a:r>
            <a:r>
              <a:rPr lang="ko-KR" altLang="en-US" sz="1250" b="0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250" b="0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Estimate</a:t>
            </a:r>
            <a:endParaRPr sz="1250" b="0" dirty="0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5FF11-E95B-8C93-39A3-5837052F9040}"/>
              </a:ext>
            </a:extLst>
          </p:cNvPr>
          <p:cNvSpPr txBox="1"/>
          <p:nvPr/>
        </p:nvSpPr>
        <p:spPr>
          <a:xfrm>
            <a:off x="4180106" y="1341063"/>
            <a:ext cx="4615302" cy="28886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lang="en-US" sz="1250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V0(baseline)</a:t>
            </a:r>
            <a:r>
              <a:rPr lang="ko-KR" altLang="en-US" sz="1250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합성 결과</a:t>
            </a:r>
            <a:endParaRPr sz="1250" b="0" dirty="0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2860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 돌려 보기 ③ GUI로 결과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FDFB7C9-EEB0-6111-2690-85030E6EA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8" y="1118319"/>
            <a:ext cx="11506202" cy="1312078"/>
          </a:xfrm>
          <a:prstGeom prst="rect">
            <a:avLst/>
          </a:prstGeom>
        </p:spPr>
      </p:pic>
      <p:sp>
        <p:nvSpPr>
          <p:cNvPr id="8" name="SCREENSHOT_B"/>
          <p:cNvSpPr/>
          <p:nvPr/>
        </p:nvSpPr>
        <p:spPr>
          <a:xfrm>
            <a:off x="2945129" y="1611630"/>
            <a:ext cx="5486400" cy="902970"/>
          </a:xfrm>
          <a:prstGeom prst="rect">
            <a:avLst/>
          </a:prstGeom>
          <a:noFill/>
          <a:ln w="22225">
            <a:solidFill>
              <a:srgbClr val="D95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endParaRPr sz="1100" b="0" dirty="0">
              <a:solidFill>
                <a:srgbClr val="4A4A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646FA5-B2A2-9FD4-160A-7CF2D123431E}"/>
              </a:ext>
            </a:extLst>
          </p:cNvPr>
          <p:cNvSpPr txBox="1"/>
          <p:nvPr/>
        </p:nvSpPr>
        <p:spPr>
          <a:xfrm>
            <a:off x="1301626" y="2884459"/>
            <a:ext cx="9145393" cy="3222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lang="en-US"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ResGRU</a:t>
            </a:r>
            <a:r>
              <a:rPr lang="en-US"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: top </a:t>
            </a:r>
            <a:r>
              <a:rPr lang="ko-KR" altLang="en-US"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함수 전체 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#pragma HLS DATAFLOW 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 하위 두 개의 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task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 나뉨</a:t>
            </a:r>
            <a:endParaRPr lang="en-US" altLang="ko-KR" sz="125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lang="en-US"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Block_entry_split_proc</a:t>
            </a:r>
            <a:r>
              <a:rPr lang="en-US"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lang="ko-KR" altLang="en-US"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함수 인자</a:t>
            </a:r>
            <a:r>
              <a:rPr lang="en-US" altLang="ko-KR"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가중치 등</a:t>
            </a:r>
            <a:r>
              <a:rPr lang="en-US" altLang="ko-KR"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lang="ko-KR" altLang="en-US"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을 받고 다음 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task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 넘겨 줌</a:t>
            </a:r>
            <a:endParaRPr lang="en-US" altLang="ko-KR" sz="125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lang="en-US" sz="125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Loop_LOOP_T_proc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LOOP_T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전체를 감싼 모듈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실제 계산 포함</a:t>
            </a:r>
            <a:endParaRPr lang="en-US" altLang="ko-KR" sz="125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endParaRPr lang="en-US" sz="125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Issue </a:t>
            </a:r>
            <a:r>
              <a:rPr lang="en-US" sz="125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Type_II</a:t>
            </a:r>
            <a:r>
              <a:rPr 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Violation : II 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목표를 맞추지 못함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. V0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에서는 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 되어 있음</a:t>
            </a:r>
            <a:endParaRPr lang="en-US" altLang="ko-KR" sz="125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Violation Type : Issue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의 원인</a:t>
            </a:r>
            <a:endParaRPr lang="en-US" altLang="ko-KR" sz="125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endParaRPr lang="en-US" sz="125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Latency(</a:t>
            </a:r>
            <a:r>
              <a:rPr lang="en-US" sz="125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cycles,ns</a:t>
            </a:r>
            <a:r>
              <a:rPr 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 : 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시작부터 끝까지 걸리는 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clock 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수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, cycle x 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목표 클럭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(ns)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 결정</a:t>
            </a:r>
            <a:endParaRPr lang="en-US" altLang="ko-KR" sz="125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Iteration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Latency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샘플 하나의 결과가 나오기 까지의 단계 수 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(pipeline depth)</a:t>
            </a: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Interval : 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다음 샘플 입력 시작까지의 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clock </a:t>
            </a:r>
            <a:r>
              <a:rPr lang="ko-KR" altLang="en-US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수 </a:t>
            </a:r>
            <a:r>
              <a:rPr lang="en-US" altLang="ko-KR" sz="125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(Iteration Interval II)</a:t>
            </a: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endParaRPr lang="en-US" sz="125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endParaRPr sz="125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47697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 돌려 보기 ③ GUI로 결과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5F88B3E-F774-E72F-A621-5D8824A2A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1763"/>
            <a:ext cx="2696413" cy="240856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FDE109C-9BF6-C920-4DA2-0957FB571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413" y="1041763"/>
            <a:ext cx="9495587" cy="40445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4197AE-D122-D834-5790-820A2479C2D9}"/>
              </a:ext>
            </a:extLst>
          </p:cNvPr>
          <p:cNvSpPr txBox="1"/>
          <p:nvPr/>
        </p:nvSpPr>
        <p:spPr>
          <a:xfrm>
            <a:off x="1050166" y="5180866"/>
            <a:ext cx="9145393" cy="176618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위치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Navigator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 SYNTHESIS →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Viewers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Schedule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모듈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Loop_LOOP_T_proc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가로축 = 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clock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0부터 약 25까지. 샘플 하나가 지나가는 단계 수 =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Iteration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Latency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파란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LOOP_T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막대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라벨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“II=2 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실제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II와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그 원인. 세로 눈금 간격(2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)마다 새 샘플이 시작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 줄 = 연산 하나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이름 규칙은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변수_ln줄번호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(연산)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예: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mul_ln59(*)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linear_layer.h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59번 줄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의 곱셈.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FEx의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Ix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Ix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+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Qx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Qx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막대 위치 = 실행 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cycle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막대 길이 = 걸리는 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cycle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수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(곱셈처럼 여러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걸리는 연산은 막대가 김)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위에서 아래로 = 데이터 흐름 순서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Ix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Qx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FEx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입력 투영 → GRU 3층 → 출력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재귀 경로 찾기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h_state_all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읽기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load_ln35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)와 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쓰기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write_ln13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를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검색해 몇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cycle에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있는지 확인 → 둘 사이가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II를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정하는 경로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endParaRPr sz="125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DB357BC1-BDEE-1EBC-AC8F-A3AE06510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79" y="628337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157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 돌려 보기 ④ 구현 (Implementation)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5778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lang="en-US" sz="1000" dirty="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Command prompt</a:t>
            </a:r>
            <a:endParaRPr sz="1000" dirty="0">
              <a:solidFill>
                <a:srgbClr val="CCCCCC"/>
              </a:solidFill>
              <a:latin typeface="Consolas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57784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set STEPS=csynth impl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vitis_hls -f scripts/run_resgru.tcl &gt; results\impl.log 2&gt;&amp;1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:: 약 1시간. PC 절전 끄기, 창 닫지 않기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514600"/>
            <a:ext cx="55778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 dirty="0" err="1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prj_resgru</a:t>
            </a:r>
            <a:r>
              <a:rPr sz="1000" dirty="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/sol1/</a:t>
            </a:r>
            <a:r>
              <a:rPr sz="1000" dirty="0" err="1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impl</a:t>
            </a:r>
            <a:r>
              <a:rPr sz="1000" dirty="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/report/</a:t>
            </a:r>
            <a:r>
              <a:rPr sz="1000" dirty="0" err="1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verilog</a:t>
            </a:r>
            <a:r>
              <a:rPr sz="1000" dirty="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/</a:t>
            </a:r>
            <a:r>
              <a:rPr sz="1000" dirty="0" err="1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export_impl.rpt</a:t>
            </a:r>
            <a:endParaRPr sz="1000" dirty="0">
              <a:solidFill>
                <a:srgbClr val="CCCCCC"/>
              </a:solidFill>
              <a:latin typeface="Consolas"/>
              <a:ea typeface="맑은 고딕"/>
              <a:cs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" y="2788920"/>
            <a:ext cx="5577840" cy="3566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== Vivado Place &amp; Route Results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* Version:        2024.1 (Build 5069499 on May 21 2024)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* Target device:  xczu7ev-ffvc1156-2-e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* Place &amp; Route target clock:  15 ns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* C-Synthesis uncertainty:     27%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== Place &amp; Route Resource Summary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LUT:              46646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FF:               49546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DSP:              648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BRAM:             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SRL:              5344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== Place &amp; Route Timing Summary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* Timing was NOT met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| Target         | 15.000      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| Post-Synthesis | 14.346      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| Post-Route     | 17.129      |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643898"/>
              </p:ext>
            </p:extLst>
          </p:nvPr>
        </p:nvGraphicFramePr>
        <p:xfrm>
          <a:off x="6263640" y="1115568"/>
          <a:ext cx="5486400" cy="2688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Linux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  <a:endParaRPr sz="12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Windows PC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LUT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46,544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46,646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FF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49,551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49,546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DSP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648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648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BRAM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Post-Route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16.659 ns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17.129 ns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처리율 (Fmax / II)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≈ 30.0 MSps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≈ 29.2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MSps</a:t>
                      </a:r>
                      <a:endParaRPr sz="12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63640" y="3977639"/>
            <a:ext cx="5486400" cy="23774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알아 둘 것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같은 소스라도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환경(PC)에 따라 타이밍이 0.5 ns 정도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다르다 → 팀마다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측정 환경 하나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를 정하고 v0부터 그 환경에서 다시 잰다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자원 비교는 이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구현 후 값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으로 (합성 추정치 X)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모듈별 자원: </a:t>
            </a: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impl/verilog/report/*utilization_hierarchical*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타이밍 경로: </a:t>
            </a: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impl/verilog/report/*timing*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4D7D7AB-D6A0-0C9D-5305-7D4C17903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267" y="4430760"/>
            <a:ext cx="1886213" cy="192431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F77361B-438D-B0FE-3A4B-4EA3F2926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924" y="3871144"/>
            <a:ext cx="1952898" cy="56205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Design</a:t>
            </a:r>
            <a:r>
              <a:rPr lang="ko-KR" altLang="en-US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</a:t>
            </a:r>
            <a:r>
              <a:rPr lang="ko-KR" altLang="en-US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 </a:t>
            </a:r>
            <a:r>
              <a:rPr lang="en-US" altLang="ko-KR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Test</a:t>
            </a:r>
            <a:r>
              <a:rPr lang="ko-KR" altLang="en-US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 </a:t>
            </a:r>
            <a:r>
              <a:rPr lang="en-US" altLang="ko-KR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Flow (v0</a:t>
            </a:r>
            <a:r>
              <a:rPr lang="ko-KR" altLang="en-US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 재현 용</a:t>
            </a:r>
            <a:r>
              <a:rPr lang="en-US" altLang="ko-KR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)</a:t>
            </a:r>
            <a:endParaRPr sz="2600" b="1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15568"/>
          <a:ext cx="11338560" cy="42245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7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5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명령 (패키지 폴더에서, Vitis HLS 2024.1 Command Prompt)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 결과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 dirty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python tools/hw_ref.py --golden </a:t>
                      </a:r>
                      <a:r>
                        <a:rPr sz="1092" b="0" dirty="0" err="1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golden</a:t>
                      </a:r>
                      <a:r>
                        <a:rPr sz="1092" b="0" dirty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 --out results/ref_exact.txt --ref golden/vectors/torch_out.txt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NMSE −100 dB 이하 (≈ −138)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vitis_hls -f scripts/run_resgru.tcl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CSim done with 0 errors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python tools/hw_ref.py --golden golden --fxp hls --act hard --fex nr_fx --reset_every 64 --out results/ref_v0.txt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results/ref_v0.txt 생성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python tools/compare_out.py results/hls_out.txt results/ref_v0.txt --nmse_max -60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−82.66 dB, PASS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cd opendpd_min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python ../tools/eval_pa.py --pa save/DPA_200MHz/train_pa/PA_S_4574_M_DGRU_H_8_F_50_P_486_D_0.pt ../golden/vectors/torch_out.txt ../results/hls_out.txt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v0 NMSE ≈ −26.67 dB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set STEPS=csynth impl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vitis_hls -f scripts/run_resgru.tcl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II 2, LUT ≈ 46.6k, 약 17 ns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11480" y="5532120"/>
            <a:ext cx="11338560" cy="822960"/>
          </a:xfrm>
          <a:prstGeom prst="roundRect">
            <a:avLst>
              <a:gd name="adj" fmla="val 8000"/>
            </a:avLst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4주차 목표: 위 결과를 </a:t>
            </a:r>
            <a:r>
              <a:rPr sz="14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각자 PC에서 그대로 재현</a:t>
            </a: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+ 측정 환경을 정해 v0 구현값을 PPA 이력표 v0 행에 기록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Design</a:t>
            </a:r>
            <a:r>
              <a:rPr lang="ko-KR" altLang="en-US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</a:t>
            </a:r>
            <a:r>
              <a:rPr lang="ko-KR" altLang="en-US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 </a:t>
            </a:r>
            <a:r>
              <a:rPr lang="en-US" altLang="ko-KR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Test</a:t>
            </a:r>
            <a:r>
              <a:rPr lang="ko-KR" altLang="en-US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 </a:t>
            </a:r>
            <a:r>
              <a:rPr lang="en-US" altLang="ko-KR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Flow (</a:t>
            </a:r>
            <a:r>
              <a:rPr lang="en-US" altLang="ko-KR" sz="260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src</a:t>
            </a:r>
            <a:r>
              <a:rPr lang="en-US" altLang="ko-KR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 </a:t>
            </a:r>
            <a:r>
              <a:rPr lang="ko-KR" altLang="en-US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수정 후 </a:t>
            </a:r>
            <a:r>
              <a:rPr lang="en-US" altLang="ko-KR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implementation</a:t>
            </a:r>
            <a:r>
              <a:rPr lang="ko-KR" altLang="en-US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까지</a:t>
            </a:r>
            <a:r>
              <a:rPr lang="en-US" altLang="ko-KR" sz="26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  <a:sym typeface="Wingdings" panose="05000000000000000000" pitchFamily="2" charset="2"/>
              </a:rPr>
              <a:t>)</a:t>
            </a:r>
            <a:endParaRPr sz="2600" b="1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264E9C4B-88FC-8988-AEBC-2F999B7F8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900696"/>
              </p:ext>
            </p:extLst>
          </p:nvPr>
        </p:nvGraphicFramePr>
        <p:xfrm>
          <a:off x="411480" y="1115568"/>
          <a:ext cx="11338560" cy="4881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7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5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명령 (패키지 폴더에서, venv 활성화된 Vitis HLS 2024.1 Command Prompt)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통과 기준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고치기</a:t>
                      </a:r>
                      <a:r>
                        <a:rPr sz="105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전 </a:t>
                      </a:r>
                      <a:r>
                        <a:rPr sz="105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</a:t>
                      </a:r>
                      <a:r>
                        <a:rPr sz="10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97" b="0" dirty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python tools/hw_ref.py --golden </a:t>
                      </a:r>
                      <a:r>
                        <a:rPr sz="997" b="0" dirty="0" err="1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golden</a:t>
                      </a:r>
                      <a:r>
                        <a:rPr sz="997" b="0" dirty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 &lt;</a:t>
                      </a:r>
                      <a:r>
                        <a:rPr sz="997" b="0" dirty="0" err="1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바꿀</a:t>
                      </a:r>
                      <a:r>
                        <a:rPr sz="997" b="0" dirty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97" b="0" dirty="0" err="1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내용의</a:t>
                      </a:r>
                      <a:r>
                        <a:rPr sz="997" b="0" dirty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97" b="0" dirty="0" err="1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옵션</a:t>
                      </a:r>
                      <a:r>
                        <a:rPr sz="997" b="0" dirty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&gt; --out results/ref_plan.txt</a:t>
                      </a:r>
                      <a:r>
                        <a:rPr sz="10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0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eval_pa로</a:t>
                      </a:r>
                      <a:r>
                        <a:rPr sz="10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</a:t>
                      </a:r>
                      <a:endParaRPr sz="105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예상 정확도가 목표 이상이면 진행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src 수정</a:t>
                      </a: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(한 번에 하나) · 새 근사를 넣었으면 </a:t>
                      </a:r>
                      <a:r>
                        <a:rPr sz="997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tools/hw_ref.py</a:t>
                      </a: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에도 </a:t>
                      </a:r>
                      <a:r>
                        <a:rPr sz="10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계산</a:t>
                      </a: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추가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C-sim</a:t>
                      </a: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97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set STEPS=</a:t>
                      </a: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997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vitis_hls -f scripts/run_resgru.tcl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CSim done with 0 errors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참조 생성</a:t>
                      </a: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97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python tools/hw_ref.py --golden golden &lt;지금 HW와 같은 옵션&gt; --out results/ref_new.txt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results/ref_new.txt 생성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검증</a:t>
                      </a: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97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python tools/compare_out.py results/hls_out.txt results/ref_new.txt --nmse_max -60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PASS (구현이 의도대로)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</a:t>
                      </a: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97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cd opendpd_min</a:t>
                      </a: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997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python ../tools/eval_pa.py --pa save/DPA_200MHz/train_pa/PA_S_4574_M_DGRU_H_8_F_50_P_486_D_0.pt ../golden/vectors/torch_out.txt ../results/hls_out.txt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NMSE ≤ −43.48 dB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ACPR ≤ −50.39 / −47.83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II 확인</a:t>
                      </a: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997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set STEPS=csynth</a:t>
                      </a: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997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vitis_hls -f scripts/run_resgru.tcl</a:t>
                      </a: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997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findstr /C:"Final II" vitis_hls.log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LOOP_T Final II = 2 (필수)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2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  <a:r>
                        <a:rPr sz="10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(약 1시간</a:t>
                      </a:r>
                      <a:r>
                        <a:rPr lang="en-US" sz="10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소요</a:t>
                      </a:r>
                      <a:r>
                        <a:rPr sz="10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 · </a:t>
                      </a:r>
                      <a:r>
                        <a:rPr sz="997" b="0" dirty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set STEPS=</a:t>
                      </a:r>
                      <a:r>
                        <a:rPr sz="997" b="0" dirty="0" err="1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csynth</a:t>
                      </a:r>
                      <a:r>
                        <a:rPr sz="997" b="0" dirty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97" b="0" dirty="0" err="1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impl</a:t>
                      </a:r>
                      <a:r>
                        <a:rPr sz="10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997" b="0" dirty="0" err="1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vitis_hls</a:t>
                      </a:r>
                      <a:r>
                        <a:rPr sz="997" b="0" dirty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 -f scripts/</a:t>
                      </a:r>
                      <a:r>
                        <a:rPr sz="997" b="0" dirty="0" err="1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run_resgru.tcl</a:t>
                      </a:r>
                      <a:endParaRPr sz="997" b="0" dirty="0">
                        <a:solidFill>
                          <a:srgbClr val="A31F34"/>
                        </a:solidFill>
                        <a:latin typeface="Consolas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export_impl.rpt</a:t>
                      </a:r>
                      <a:r>
                        <a:rPr sz="10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자원·Post-Route</a:t>
                      </a:r>
                      <a:endParaRPr sz="105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2254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v0의 성능 열화 ① 정확도 — 논문과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pic>
        <p:nvPicPr>
          <p:cNvPr id="4" name="Picture 3" descr="d03_spectrum_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23" y="1281326"/>
            <a:ext cx="5909872" cy="3429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971163"/>
              </p:ext>
            </p:extLst>
          </p:nvPr>
        </p:nvGraphicFramePr>
        <p:xfrm>
          <a:off x="6903720" y="1281326"/>
          <a:ext cx="4846319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NMSE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ACPR L / R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논문 Table I (목표)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−43.48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−50.39 / −47.83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모델 (float)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−45.52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−53.59 / −50.43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v0 HLS (같은 가중치)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D95A1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−26.67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D95A1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−39.48 / −36.09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DPD 없음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−11.07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−31.99 / −30.00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03720" y="3777638"/>
            <a:ext cx="4846320" cy="9601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v0는 목표 대비 NMSE </a:t>
            </a:r>
            <a:r>
              <a:rPr sz="13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17 dB</a:t>
            </a: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, ACPR </a:t>
            </a:r>
            <a:r>
              <a:rPr sz="13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11~12 dB</a:t>
            </a: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부족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71838"/>
            <a:ext cx="11338560" cy="8474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19075" indent="-173355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논문의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HLS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(Table III)는 </a:t>
            </a:r>
            <a:r>
              <a:rPr sz="13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자원과</a:t>
            </a:r>
            <a:r>
              <a:rPr sz="13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II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보고한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것.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가중치를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넣</a:t>
            </a:r>
            <a:r>
              <a:rPr lang="ko-KR" altLang="en-US" sz="13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은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출력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정확도</a:t>
            </a:r>
            <a:r>
              <a:rPr lang="ko-KR" altLang="en-US"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는 떨어짐</a:t>
            </a:r>
            <a:endParaRPr sz="13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9075" indent="-173355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가중치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(seed 4574)로 v0를 C-sim → PA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대리모델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통과</a:t>
            </a:r>
            <a:r>
              <a:rPr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위 표</a:t>
            </a:r>
            <a:r>
              <a:rPr lang="ko-KR" altLang="en-US" sz="13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의 지표 값 확인</a:t>
            </a:r>
            <a:endParaRPr lang="en-US" sz="130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9075" indent="-173355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"</a:t>
            </a:r>
            <a:r>
              <a:rPr sz="13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논문</a:t>
            </a:r>
            <a:r>
              <a:rPr sz="13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정확도를</a:t>
            </a:r>
            <a:r>
              <a:rPr sz="13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내는</a:t>
            </a:r>
            <a:r>
              <a:rPr sz="13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HW"</a:t>
            </a:r>
            <a:r>
              <a:rPr lang="en-US" sz="13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v1</a:t>
            </a:r>
            <a:r>
              <a:rPr lang="ko-KR" altLang="en-US" sz="13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만들기</a:t>
            </a:r>
            <a:endParaRPr sz="13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v0의 성능 열화 ② 하드웨어 — 논문과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15568"/>
          <a:ext cx="11338560" cy="3438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논문 Table III (5,3)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v0 재측정 (ResGRU 코어, 15 ns 제약)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II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같음 ✅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클록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 MHz (15 ns)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Post-Route </a:t>
                      </a:r>
                      <a:r>
                        <a:rPr sz="12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16.659 ns</a:t>
                      </a: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(≈ 60 MHz)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D95A1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타이밍 미달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처리율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33.3 MSps (66 MHz / 2)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≈ 30.0 MSps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대비 −10 %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DSP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37.73 %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648 (37.5 %)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거의 같음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LUT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21.53 %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46,544 (20.2 %)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논문은 wrapper·IO 포함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FF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12.65 %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49,551 (10.8 %)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BRAM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3.69 %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논문은 wrapper 메모리 포함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11480" y="4709160"/>
            <a:ext cx="5577840" cy="16459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8A8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 dirty="0" err="1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측정</a:t>
            </a:r>
            <a:r>
              <a:rPr sz="1300" b="1" dirty="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조건</a:t>
            </a:r>
            <a:endParaRPr sz="1300" b="1" dirty="0">
              <a:solidFill>
                <a:srgbClr val="8A8985"/>
              </a:solidFill>
              <a:latin typeface="맑은 고딕"/>
              <a:ea typeface="맑은 고딕"/>
              <a:cs typeface="맑은 고딕"/>
            </a:endParaRP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측정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tcl의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top </a:t>
            </a:r>
            <a:r>
              <a:rPr sz="1139" b="0" dirty="0" err="1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ResGRU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wrapper·IO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제외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),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Vivado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2024.1 out-of-context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구현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논문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수치는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wrapper를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칩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핀에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연결한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구현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457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</a:pP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lang="ko-KR" altLang="en-US"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논문 수치와 바로 비교 </a:t>
            </a:r>
            <a:r>
              <a:rPr lang="en-US" altLang="ko-KR"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x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72200" y="4709160"/>
            <a:ext cx="5577840" cy="16459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50" b="1" dirty="0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v0 </a:t>
            </a:r>
            <a:r>
              <a:rPr sz="1350" b="1" dirty="0" err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정리</a:t>
            </a:r>
            <a:endParaRPr sz="1350" b="1" dirty="0">
              <a:solidFill>
                <a:srgbClr val="D95A1E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정확도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목표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미달</a:t>
            </a:r>
            <a:endParaRPr sz="125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처리율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II는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맞지만</a:t>
            </a:r>
            <a:r>
              <a:rPr sz="125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66 MHz </a:t>
            </a:r>
            <a:r>
              <a:rPr sz="125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미달</a:t>
            </a:r>
            <a:endParaRPr lang="en-US" sz="1250" b="1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lang="ko-KR" altLang="en-US" sz="125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자원 사용량은 </a:t>
            </a:r>
            <a:r>
              <a:rPr lang="en-US" altLang="ko-KR" sz="125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</a:t>
            </a:r>
            <a:r>
              <a:rPr lang="ko-KR" altLang="en-US" sz="125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와 먼저 비교</a:t>
            </a:r>
            <a:endParaRPr sz="1250" b="1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 알려진 문제 P1 ~ P4 — 증상과 손실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pic>
        <p:nvPicPr>
          <p:cNvPr id="4" name="Picture 3" descr="fig05_known_iss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90314"/>
            <a:ext cx="6035040" cy="27995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29400" y="1115568"/>
          <a:ext cx="5120640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#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(블록)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P1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GRU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게이트의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활성화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함수</a:t>
                      </a:r>
                      <a:endParaRPr sz="115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HW의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σ/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tanh가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때 쓴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함수와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다름</a:t>
                      </a:r>
                      <a:endParaRPr sz="115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P2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시퀀스 처리 제어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은닉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방식이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golden(2,560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)과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다름</a:t>
                      </a:r>
                      <a:endParaRPr sz="115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P3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고정소수점 자료형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값이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표현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범위를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넘어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포화</a:t>
                      </a:r>
                      <a:endParaRPr sz="115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P4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FEx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계산값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일부가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범위를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넘어</a:t>
                      </a:r>
                      <a:r>
                        <a:rPr sz="115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포화</a:t>
                      </a:r>
                      <a:endParaRPr sz="115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9259" y="4743226"/>
            <a:ext cx="9462248" cy="1406561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각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손실은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따로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켰을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때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값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모두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39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hw_ref.py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옵션으로</a:t>
            </a:r>
            <a:r>
              <a:rPr lang="en-US"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각 문제의 영향</a:t>
            </a:r>
            <a:r>
              <a:rPr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재현 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해결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방법은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여러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가지이고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자원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비용이</a:t>
            </a:r>
            <a:r>
              <a:rPr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다름</a:t>
            </a:r>
            <a:endParaRPr lang="en-US" altLang="ko-KR" sz="120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marL="502920" lvl="1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</a:pPr>
            <a:r>
              <a:rPr lang="ko-KR" altLang="en-US" sz="1200" b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문제 해결 방법 </a:t>
            </a:r>
            <a:r>
              <a:rPr lang="ko-KR" altLang="en-US" sz="120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선정 이유 제시</a:t>
            </a:r>
            <a:endParaRPr sz="1200" b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3175" y="5729906"/>
            <a:ext cx="6035040" cy="2922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dirty="0" err="1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자세한</a:t>
            </a:r>
            <a:r>
              <a:rPr sz="1250" b="0" dirty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내용</a:t>
            </a:r>
            <a:r>
              <a:rPr sz="1250" b="0" dirty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187" b="0" dirty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docs/v0_알려진문제.md</a:t>
            </a:r>
            <a:r>
              <a:rPr sz="1250" b="0" dirty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. 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b="1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Project Goal</a:t>
            </a:r>
            <a:endParaRPr sz="2600" b="1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267852"/>
              </p:ext>
            </p:extLst>
          </p:nvPr>
        </p:nvGraphicFramePr>
        <p:xfrm>
          <a:off x="411480" y="1115567"/>
          <a:ext cx="11338560" cy="4155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6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  <a:endParaRPr sz="12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6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II = 2 유지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LOOP_T의 II는 항상 2 이하. 논문의 핵심 주장(작은 H → 짧은 재귀 경로 → II = 2)이므로 정확도를 위해 II를 늘리는 것은 허용하지 않음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D95A1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6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모델, PA 통과: NMSE ≤ −43.48 dB, ACPR ≤ −50.39 / −47.83 dBc (논문 Table I). eval_pa.py로 측정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 err="1">
                          <a:solidFill>
                            <a:srgbClr val="D95A1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</a:t>
                      </a:r>
                      <a:endParaRPr sz="12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6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등가성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변경 후 hw_ref 참조와 compare_out PASS (bit-exact 또는 허용 오차)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D95A1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6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 비트폭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weight_t, data_t는 16비트 단어 고정 (정수·소수 배분 자유), accum_t 자유. 최종에서는 자유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 규칙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6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처리율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II = 2 @ 66 MHz = 33.3 MSps, 구현 후 타이밍 통과 (v0도 미달)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여부와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MSps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</a:t>
                      </a:r>
                      <a:endParaRPr sz="12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6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v0 수준 이하 (팀 측정 환경에서 다시 구현한 v0 값 기준)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도전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  <a:endParaRPr sz="12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5798"/>
            <a:ext cx="292608" cy="6642201"/>
          </a:xfrm>
          <a:prstGeom prst="rect">
            <a:avLst/>
          </a:prstGeom>
          <a:solidFill>
            <a:srgbClr val="236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002856"/>
                </a:solidFill>
                <a:latin typeface="맑은 고딕"/>
                <a:ea typeface="맑은 고딕"/>
                <a:cs typeface="맑은 고딕"/>
              </a:rPr>
              <a:t>Vitis HLS 기초 (자습용)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246120"/>
            <a:ext cx="5074920" cy="0"/>
          </a:xfrm>
          <a:prstGeom prst="line">
            <a:avLst/>
          </a:prstGeom>
          <a:ln w="25400">
            <a:solidFill>
              <a:srgbClr val="236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3474720"/>
            <a:ext cx="10515600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HLS란 · 설계 흐름 · 리포트 읽기 · 자료형</a:t>
            </a:r>
          </a:p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루프 최적화: PIPELINE, UNROLL, 반복 사이 의존성과 II</a:t>
            </a:r>
          </a:p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배열·메모리: ARRAY_PARTITION / RESHAPE, BIND_STORAGE</a:t>
            </a:r>
          </a:p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그 밖의 directive: DATAFLOW, INTERFACE, INLINE, BIND_OP, ALLOCATION …</a:t>
            </a:r>
          </a:p>
          <a:p>
            <a:pPr marL="272415" indent="-226695" algn="l">
              <a:lnSpc>
                <a:spcPct val="112000"/>
              </a:lnSpc>
              <a:spcAft>
                <a:spcPts val="800"/>
              </a:spcAft>
              <a:buClr>
                <a:srgbClr val="4A4A48"/>
              </a:buClr>
              <a:buFont typeface="Arial"/>
              <a:buChar char="•"/>
            </a:pPr>
            <a:r>
              <a:rPr sz="17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타이밍 클로저와 분석 도구, 체크리스트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HLS (High-Level Synthesis)란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15568"/>
            <a:ext cx="566928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32410" indent="-18669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C/C++로 쓴 알고리즘을 </a:t>
            </a:r>
            <a:r>
              <a:rPr sz="14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RTL(Verilog/VHDL)</a:t>
            </a: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로 바꾸는 도구</a:t>
            </a:r>
          </a:p>
          <a:p>
            <a:pPr marL="232410" indent="-18669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HDL보다 빠르게 설계·검증할 수 있고, 같은 코드에 </a:t>
            </a:r>
            <a:r>
              <a:rPr sz="14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pragma만 바꿔</a:t>
            </a: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여러 구조를 시험할 수 있다</a:t>
            </a:r>
          </a:p>
          <a:p>
            <a:pPr marL="232410" indent="-186690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대신 "C 코드가 어떤 하드웨어가 되는지"를 알고 써야 원하는 성능이 나온다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6118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Compilation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657600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C 코드 → 제어·데이터 흐름 그래프(CDFG)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16052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206240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CDFG 최적화·변형 (인라인, 루프 펼침 …)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70916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754880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각 연산을 몇 번째 clock에 할지 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25780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Allocation / Binding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5303520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연산·변수를 곱셈기·메모리 등 HW 자원에 배정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80644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Output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852159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RTL 코드 생성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55080" y="1115568"/>
          <a:ext cx="5394960" cy="2880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C/C++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RTL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함수 (Function)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모듈 (Module)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함수 인자 (Argument)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입출력 포트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연산자 (+, ×, …)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연산 유닛 (Functional unit)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스칼라 변수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와이어 또는 레지스터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배열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메모리 (BRAM / LUTRAM / 레지스터)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제어문 (if, for)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제어 로직 (FSM)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355080" y="416052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 w="15875">
            <a:solidFill>
              <a:srgbClr val="8A8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함수와 모듈 계층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각 함수는 RTL 모듈이 된다.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top 함수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는 top 모듈, 인자는 인터페이스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하위 함수는 기본적으로 작으면 자동 인라인.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INLINE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INLINE off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 지정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top 함수는 tcl의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set_top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으로 정한다 (이 과제: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ResGRU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HLS 설계 흐름과 리포트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pic>
        <p:nvPicPr>
          <p:cNvPr id="4" name="Picture 3" descr="h06_hl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14" y="1115568"/>
            <a:ext cx="11072090" cy="3200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4434840"/>
          <a:ext cx="1133856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확인할 것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실패하면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 Simulation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testbench 통과, 출력 파일 (이 과제: hls_out.txt → compare_out / eval_pa)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C++ 코드·testbench 버그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 Synthesis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II, Latency, 추정 타이밍, 추정 자원, 경고 (HLS 200-880 등)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pragma 미적용, 의존성, 포트 부족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C/RTL Co-sim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RTL이 C와 같은 결과 + 실제 latency. 시간이 오래 걸리므로 NT를 줄여서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static 변수 초기화, 인터페이스 문제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Implementation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후 LUT/FF/DSP/BRAM, Post-Route 타이밍 (WNS)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타이밍 미달 → 임계 경로 분석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자료형 — ap_int, ap_fixed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pic>
        <p:nvPicPr>
          <p:cNvPr id="4" name="Picture 3" descr="h05_ap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17" y="1115568"/>
            <a:ext cx="6558084" cy="2240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3474720"/>
            <a:ext cx="676656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자주 쓰는 형태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749039"/>
            <a:ext cx="6766560" cy="2606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#include "ap_fixed.h"   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ap_int.h 포함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ap_int&lt;12&gt;   a;        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12비트 부호 있는 정수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ap_uint&lt;5&gt;   idx;      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5비트 부호 없는 정수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ap_fixed&lt;16,2&gt;              x; 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기본: AP_TRN, AP_WRAP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ap_fixed&lt;16,2,AP_RND,AP_SAT&gt; y;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반올림 + 포화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ap_ufixed&lt;10,-4&gt;            s; 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부호 없음, 값 &lt; 2^-4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auto p = x * y;    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곱 결과는 ap_fixed&lt;32,4&gt; (넓어짐, 손실 없음)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y = p;             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대입할 때 &lt;16,2&gt;로 반올림·포화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x.range(15, 8);      </a:t>
            </a: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비트 단위 접근 (ap_uint)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06640" y="1115568"/>
          <a:ext cx="4343400" cy="2304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AP_TRN (기본)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−∞ 방향으로 버림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AP_RND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반올림 (0.5는 +∞ 쪽)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AP_RND_CONV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짝수 쪽 반올림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AP_WRAP (기본)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넘치면 순환 (부호 뒤집힘)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AP_SAT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넘치면 최댓값/최솟값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06640" y="3657600"/>
            <a:ext cx="4343400" cy="269748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연산 결과는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자동으로 넓어진다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(곱: 비트 수 합, 덧셈: +1비트)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반올림·포화는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대입할 때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일어난다 → 어느 변수에 담는지가 정확도를 정한다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비트 수 ↓ → LUT·DSP·지연 ↓. 정수 비트 ↑ → 범위 ↑ 해상도 ↓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18×27 이하 곱셈은 DSP48E2 1개에 들어간다 (UltraScale+)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성능 지표 읽는 법 — Latency, II, 처리율, 타이밍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15568"/>
          <a:ext cx="6583680" cy="3867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Latency (cycles)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함수/루프가 시작해서 끝날 때까지 clock 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Iteration Latency (Depth)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루프 반복 하나가 들어가서 나오기까지 단계 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II (Initiation Interval)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반복(또는 다음 호출)을 시작하기까지의 clock 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Interval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함수를 다시 부를 수 있기까지의 clock 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Trip Count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루프 반복 횟수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Target / Estimated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클록 / HLS 추정 지연 (합성 전 예측)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Uncertainty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 여유분. 기본 = 클록의 27 %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Post-Route / WNS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후 실제 최장 경로 / 여유(음수면 미달)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23760" y="1115568"/>
            <a:ext cx="4526280" cy="210312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계산식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파이프라인 루프 Latency ≈ (Trip − 1) × II + Depth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v0: (64 − 1) × 2 + 26 = 152 ≈ 151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처리율 = Fmax / II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(샘플/초)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Fmax = 1 / Post-Route 지연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3383280"/>
            <a:ext cx="4526280" cy="2971800"/>
          </a:xfrm>
          <a:prstGeom prst="roundRect">
            <a:avLst>
              <a:gd name="adj" fmla="val 8000"/>
            </a:avLst>
          </a:prstGeom>
          <a:solidFill>
            <a:srgbClr val="FDEFE6"/>
          </a:solidFill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합성 리포트의 타이밍·자원은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추정치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. 실제 값은 구현(impl) 후 리포트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Estimated &lt; Target이어도 구현 후 미달일 수 있다 (v0: 10.9 → 16.7 ns)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자원: LUT(논리), FF(레지스터), DSP(곱셈기), BRAM/URAM(메모리), SRL(시프트 레지스터)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같은 처리율이면 자원이 작은 쪽이 좋은 설계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루프는 어떻게 하드웨어가 되나 — 순차 · 파이프라인 ·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pic>
        <p:nvPicPr>
          <p:cNvPr id="4" name="Picture 3" descr="h03_loop_sche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46" y="1115568"/>
            <a:ext cx="1104122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989320"/>
            <a:ext cx="11338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HLS의 기본은 순차 실행. PIPELINE을 주면 반복들을 겹쳐 실행하고, UNROLL을 주면 반복을 복제해 동시에 실행한다.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예제로 보기 ① 최적화 없음 (FIR 필터)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  <p:pic>
        <p:nvPicPr>
          <p:cNvPr id="4" name="Picture 3" descr="lec_fir_no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51136"/>
            <a:ext cx="4023360" cy="5186663"/>
          </a:xfrm>
          <a:prstGeom prst="rect">
            <a:avLst/>
          </a:prstGeom>
        </p:spPr>
      </p:pic>
      <p:pic>
        <p:nvPicPr>
          <p:cNvPr id="5" name="Picture 4" descr="lec_fir_noopt_sc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45205"/>
            <a:ext cx="7086600" cy="20438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0" y="3383280"/>
            <a:ext cx="7086600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25742" indent="-180022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루프(i = 3 … 0)를 </a:t>
            </a:r>
            <a:r>
              <a:rPr sz="13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반복마다 순차</a:t>
            </a: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 실행: 레지스터 읽기 → 곱셈 → 덧셈</a:t>
            </a:r>
          </a:p>
          <a:p>
            <a:pPr marL="225742" indent="-180022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하드웨어: 곱셈기·덧셈기 </a:t>
            </a:r>
            <a:r>
              <a:rPr sz="13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1개씩</a:t>
            </a: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을 반복마다 다시 씀 + 이를 조절하는 Controller(FSM)</a:t>
            </a:r>
          </a:p>
          <a:p>
            <a:pPr marL="225742" indent="-180022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자원은 최소, 대신 </a:t>
            </a:r>
            <a:r>
              <a:rPr sz="13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latency가 반복 수에 비례</a:t>
            </a:r>
          </a:p>
          <a:p>
            <a:pPr marL="225742" indent="-180022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스케줄(위): 반복 하나가 끝나야 다음 반복 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그림 출처: L. Josipovic et al., IEEE Circuits and Systems Magazine, 2021 (강의 자료)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예제로 보기 ② UNROLL과 ③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pic>
        <p:nvPicPr>
          <p:cNvPr id="4" name="Picture 3" descr="lec_fir_un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47" y="1115568"/>
            <a:ext cx="3043304" cy="4206240"/>
          </a:xfrm>
          <a:prstGeom prst="rect">
            <a:avLst/>
          </a:prstGeom>
        </p:spPr>
      </p:pic>
      <p:pic>
        <p:nvPicPr>
          <p:cNvPr id="5" name="Picture 4" descr="lec_fir_p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4307"/>
            <a:ext cx="3291840" cy="4068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94760" y="1115568"/>
            <a:ext cx="2286000" cy="4206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(b) UNROLL</a:t>
            </a: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반복을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복제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해 곱셈기 4개가 동시에</a:t>
            </a: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latency ↓↓, 자원 ↑↑</a:t>
            </a: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제어 로직 단순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1115568"/>
            <a:ext cx="2194560" cy="4206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(c) PIPELINE</a:t>
            </a: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곱셈기·덧셈기는 1개씩</a:t>
            </a: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반복들을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겹쳐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실행 (매 cycle 새 반복)</a:t>
            </a:r>
          </a:p>
          <a:p>
            <a:pPr marL="212407" indent="-166687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자원 조금 ↑, 처리율 ↑↑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486400"/>
            <a:ext cx="11338560" cy="86868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UNROLL은 "공간"을 써서, PIPELINE은 "시간을 겹쳐서" 빠르게 한다. 둘 다 쓰면 펼친 연산들을 다시 파이프라인으로 겹친다 (이 과제의 LOOP_T가 그 경우).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그림 출처: L. Josipovic et al., IEEE Circuits and Systems Magazine, 2021 (강의 자료)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#pragma HLS PIPELINE — 문법과 동작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85216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위치: 루프 본문 맨 앞 또는 함수 맨 앞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852160" cy="1737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루프 파이프라인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LOOP: 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PIPELINE II=1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b[i] = a[i] * 2 + 1;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함수 파이프라인 (함수 호출을 겹침)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void f(...)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PIPELINE II=2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...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291840"/>
          <a:ext cx="585216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옵션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II=&lt;n&gt;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II (생략 시 1을 시도)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off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파이프라인 끄기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rewind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루프가 끝나고 다시 시작할 때 쉬지 않음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style=stp|flp|frp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stall 파이프라인(기본) / 입력이 없을 때 비우는 flushable / free-running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92240" y="1115568"/>
            <a:ext cx="5257800" cy="246888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중요한 규칙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파이프라인 영역 안의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모든 하위 루프는 자동으로 완전 펼침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(UNROLL)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안쪽 루프가 크면 자원이 폭발 → 보통 가장 안쪽 루프에 PIPELINE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 과제의 LOOP_T: 안쪽 LAYER_LOOP, MAC 루프, FEx의 NR 루프가 모두 펼쳐짐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749039"/>
            <a:ext cx="5257800" cy="2606040"/>
          </a:xfrm>
          <a:prstGeom prst="roundRect">
            <a:avLst>
              <a:gd name="adj" fmla="val 8000"/>
            </a:avLst>
          </a:prstGeom>
          <a:solidFill>
            <a:srgbClr val="FDEFE6"/>
          </a:solidFill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II를 못 맞추면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목표 II를 못 맞추면 경고 후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더 큰 II로 합성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(오류가 아님!) → 반드시 로그 확인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Pipelining result : Target II = 1, Final II = 2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원인: ① 반복 사이 의존성 (다음 장) ② 메모리 포트 부족 (ARRAY_PARTITION으로 해결) ③ 함수 호출 자원 공유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반복 사이 의존성 (loop-carried dependency)과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pic>
        <p:nvPicPr>
          <p:cNvPr id="4" name="Picture 3" descr="h04_recurrence_b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43" y="1115568"/>
            <a:ext cx="11007233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5074920"/>
            <a:ext cx="1133856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v0의 실제 로그 — h_state_all 저장(:336) → 다음 반복 읽기(:35)가 재귀 경로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5349240"/>
            <a:ext cx="11338560" cy="1005839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WARNING: [HLS 200-880] The II Violation in module 'Loop_LOOP_T_proc' (loop 'LOOP_T'): Unable to enforce a carried dependence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constraint (II = 1, distance = 1, offset = 0) between 'store' operation ... (src/multi_gru.cpp:336)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on static variable 'h_state_all' and 'load' operation ... (src/multi_gru.cpp:35)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INFO: [HLS 200-1470] Pipelining result : Target II = NA, Final II = 2, Depth = 26, loop 'LOOP_T'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#pragma HLS UNROLL — 루프 펼치기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85216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문법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852160" cy="2103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for (int i = 0; i &lt; 8;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UNROLL            </a:t>
            </a:r>
            <a:r>
              <a:rPr sz="11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완전 펼침: 8개 복제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c[i] = a[i] + b[i];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for (int i = 0; i &lt; 8;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UNROLL factor=2   </a:t>
            </a:r>
            <a:r>
              <a:rPr sz="11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2개씩 복제, 4번 반복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c[i] = a[i] + b[i];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703320"/>
          <a:ext cx="585216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옵션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(없음)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완전 펼침 (trip count가 상수여야 함)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39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factor=&lt;n&gt;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n개씩 복제 → 반복 수 N/n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39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skip_exit_check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N이 n의 배수일 때 종료 검사 제거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92240" y="1115568"/>
            <a:ext cx="5257800" cy="251460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효과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연산 유닛을 복제 → latency ↓,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자원 ↑ (거의 비례)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배열을 동시에 여러 개 읽어야 하므로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ARRAY_PARTITION과 함께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써야 효과가 난다 (BRAM은 포트 2개)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부분 펼침(factor)은 자원과 속도의 중간점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794760"/>
            <a:ext cx="5257800" cy="2560320"/>
          </a:xfrm>
          <a:prstGeom prst="roundRect">
            <a:avLst>
              <a:gd name="adj" fmla="val 8000"/>
            </a:avLst>
          </a:prstGeom>
          <a:solidFill>
            <a:srgbClr val="FDEFE6"/>
          </a:solidFill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파이프라인과의 관계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파이프라인 안의 루프는 이미 자동 완전 펼침 → UNROLL을 따로 쓸 필요 없음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반대로 자원을 줄이려고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안쪽 루프를 펼치지 않으려면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파이프라인 위치를 바꾸거나 </a:t>
            </a: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ALLOCATION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등으로 공유를 유도 (대신 II ↑)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UNROLL factor=1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은 펼치지 않는다는 뜻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 밖의 루프 pragma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15568"/>
          <a:ext cx="1133856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pragma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하는 일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LOOP_FLATTEN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중첩 루프를 하나로 합쳐 루프 진입·탈출 cycle 제거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#pragma HLS LOOP_FLATTEN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(안쪽 루프에)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완전 중첩(perfect) 루프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LOOP_MERGE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연속된 루프를 하나로 합침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#pragma HLS LOOP_MERGE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범위를 도는 루프 여러 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LOOP_TRIPCOUNT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 수를 알려 줌 (리포트용, HW 영향 없음)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#pragma HLS LOOP_TRIPCOUNT min=1 max=64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 수가 변수일 때 latency 표시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DEPENDENCE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의존성 정보를 직접 줌 (다음 장들)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variable=buf type=inter dependent=false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HLS가 너무 보수적일 때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PIPELINE off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파이프라인 끄기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#pragma HLS PIPELINE off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자원을 아끼고 싶은 루프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11480" y="4572000"/>
            <a:ext cx="11338560" cy="178308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 w="15875">
            <a:solidFill>
              <a:srgbClr val="8A8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팁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루프에는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이름(label)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을 붙이자: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LOOP_T: for (...)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. 리포트·로그·directive에서 이 이름으로 찾는다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Vitis HLS는 pragma가 없어도 일정 반복 수 이상의 루프를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자동으로 파이프라인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하기도 한다 (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config_compile -pipeline_loops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 → 로그의 "Pipelining loop", "Unrolling loop" 메시지로 실제 적용을 확인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배열과 메모리 — 왜 ARRAY_PARTITION이 필요한가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402336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배열 = 메모리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4023360" cy="1188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void A()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int mem[N];   </a:t>
            </a:r>
            <a:r>
              <a:rPr sz="11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배열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→ module A: reg [31:0] mem [0:N-1]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743200"/>
            <a:ext cx="57607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19075" indent="-173355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배열은 크기에 따라 </a:t>
            </a: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BRAM, LUTRAM, 레지스터</a:t>
            </a: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중 하나로 구현</a:t>
            </a:r>
          </a:p>
          <a:p>
            <a:pPr marL="219075" indent="-173355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BRAM 하나는 </a:t>
            </a: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포트가 최대 2개</a:t>
            </a: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한 cycle에 2개까지만 읽고 쓸 수 있음</a:t>
            </a:r>
          </a:p>
          <a:p>
            <a:pPr marL="219075" indent="-173355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루프를 펼치거나 파이프라인해서 같은 배열을 한 cycle에 여러 번 읽으면 → </a:t>
            </a: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포트 부족으로 II 증가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709160"/>
            <a:ext cx="5760720" cy="164592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ctr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배열을 여러 개의 작은 메모리(또는 레지스터)로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쪼개면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포트가 늘어난다 →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ARRAY_PARTITION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.  비트를 넓게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묶으면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한 번에 여러 원소를 읽는다 →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ARRAY_RESHAPE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1115568"/>
          <a:ext cx="530352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크기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포트 / 특징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레지스터 (FF)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작은 배열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접근 무제한, FF 사용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LUTRAM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작은~중간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LUT로 만든 메모리, 빠름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BRAM 18K/36K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중간~큼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포트 2개, 읽기 지연 1~2 cycle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URAM 288K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아주 큼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UltraScale+ 전용, 포트 2개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46520" y="3657600"/>
            <a:ext cx="5303520" cy="2697480"/>
          </a:xfrm>
          <a:prstGeom prst="roundRect">
            <a:avLst>
              <a:gd name="adj" fmla="val 8000"/>
            </a:avLst>
          </a:prstGeom>
          <a:solidFill>
            <a:srgbClr val="FDEFE6"/>
          </a:solidFill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이 과제의 v0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가중치·상태 배열을 모두 </a:t>
            </a: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ARRAY_PARTITION complete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레지스터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 구현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그래서 BRAM 0, 대신 모든 값을 한 cycle에 읽을 수 있어 행렬곱이 완전 병렬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큰 모델이라면 BRAM에 두고 partition factor를 조절하는 것이 일반적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#pragma HLS ARRAY_PARTITION / ARRAY_RESHAPE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  <p:pic>
        <p:nvPicPr>
          <p:cNvPr id="4" name="Picture 3" descr="lec_array_re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24599"/>
            <a:ext cx="5669280" cy="23136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3611880"/>
            <a:ext cx="566928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문법 (2024.1: type= 키워드, 옛 표기 'complete dim=1'도 허용)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886200"/>
            <a:ext cx="5669280" cy="2468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int a[N];  int W[5][5];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block: 앞쪽 절반 / 뒤쪽 절반으로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ARRAY_PARTITION variable=a type=block factor=2 dim=1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cyclic: 짝수 / 홀수 인덱스로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ARRAY_PARTITION variable=a type=cyclic factor=2 dim=1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complete: 원소마다 레지스터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ARRAY_PARTITION variable=W type=complete dim=1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ARRAY_PARTITION variable=W type=complete dim=0  </a:t>
            </a:r>
            <a:r>
              <a:rPr sz="100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모든 차원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reshape: 쪼개지 않고 한 주소에 여러 원소를 이어 붙임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ARRAY_RESHAPE variable=a type=cyclic factor=2 dim=1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115568"/>
          <a:ext cx="5349240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type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나누는 방식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block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연속 구간으로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앞뒤 절반을 동시에 쓸 때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cyclic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인덱스를 돌아가며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i, i+1을 동시에 읽을 때 (UNROLL factor와 짝)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complete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원소 하나씩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모두 동시에 (작은 배열)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3246120"/>
            <a:ext cx="5349240" cy="310896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dim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다차원 배열에서 나눌 차원 (1부터, 0 = 전부)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PARTITION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메모리 개수 ↑ (포트 ↑). 작은 배열이면 레지스터가 됨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RESHAPE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: 메모리 개수는 그대로, 단어 폭 ↑ → 한 번 읽기로 여러 원소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함수 인자 배열에 쓰면 포트도 나뉜다 (인터페이스가 바뀜)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너무 많이 쪼개면 mux·배선이 커져 LUT와 타이밍이 나빠질 수 있다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#pragma HLS DATAFLOW — 함수 단위 병렬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66928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예시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669280" cy="2103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void top(int in[N], int out[N])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DATAFLOW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int buf1[N], buf2[N];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read_input(in, buf1);     </a:t>
            </a:r>
            <a:r>
              <a:rPr sz="11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Task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process(buf1, buf2);      </a:t>
            </a:r>
            <a:r>
              <a:rPr sz="11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Task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write_output(buf2, out);  </a:t>
            </a:r>
            <a:r>
              <a:rPr sz="11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Task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703320"/>
          <a:ext cx="566928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순차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Read → Process → Write → (다음 입력) Read → …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DATAFLOW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Task들이 동시에 동작: Process가 이번 데이터를 처리하는 동안 Read는 다음 데이터를 읽음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115568"/>
            <a:ext cx="5349240" cy="274320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사용 조건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각 task는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한 번만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호출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데이터는 producer → consumer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한 방향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으로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task 사이는 배열(→ 핑퐁 버퍼, PIPO) 또는 </a:t>
            </a:r>
            <a:r>
              <a:rPr sz="1187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hls::stream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(→ FIFO)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조건을 어기면 HLS가 경고하고 DATAFLOW를 일부 적용하지 않음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023360"/>
            <a:ext cx="5349240" cy="2331720"/>
          </a:xfrm>
          <a:prstGeom prst="roundRect">
            <a:avLst>
              <a:gd name="adj" fmla="val 8000"/>
            </a:avLst>
          </a:prstGeom>
          <a:solidFill>
            <a:srgbClr val="FDEFE6"/>
          </a:solidFill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이 과제에서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ResGRU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에 DATAFLOW가 있다 → 리포트의 Pipeline Type이 </a:t>
            </a: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dataflow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실제로는 LOOP_T 하나가 대부분 (</a:t>
            </a: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Block_entry_split_proc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+ </a:t>
            </a: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Loop_LOOP_T_proc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두 task)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task 사이 FIFO가 자원에 잡힌다 (합성 리포트의 FIFO 행)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#pragma HLS INTERFACE — 포트 프로토콜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15568"/>
          <a:ext cx="640080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mode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ap_memory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 Memory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배열을 BRAM 같은 주소/데이터 포트로 (Vivado IP 흐름의 배열 기본)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ap_none</a:t>
                      </a: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ap_vld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단순 와이어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스칼라 입력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ap_ctrl_hs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start/done/idle/ready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함수 제어 (기본)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ap_fifo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 FIFO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단방향 스트림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s_axilite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AXI4-Lite Slave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CPU가 레지스터로 제어·스칼라 전달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m_axi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AXI4 Master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DDR 등 큰 메모리 직접 접근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axis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AXI4-Stream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스트리밍 데이터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ap_ctrl_none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제어 없음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블록 제어 신호 제거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040880" y="1115568"/>
            <a:ext cx="470916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예시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389888"/>
            <a:ext cx="4709160" cy="1920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void top(int *data, int ctrl,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     hls::stream&lt;int&gt; &amp;s_in)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INTERFACE m_axi     port=data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INTERFACE s_axilite port=ctrl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INTERFACE axis      port=s_in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INTERFACE s_axilite port=return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3520440"/>
            <a:ext cx="4709160" cy="2834640"/>
          </a:xfrm>
          <a:prstGeom prst="roundRect">
            <a:avLst>
              <a:gd name="adj" fmla="val 8000"/>
            </a:avLst>
          </a:prstGeom>
          <a:solidFill>
            <a:srgbClr val="FDEFE6"/>
          </a:solidFill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이 과제에서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ResGRU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는 INTERFACE pragma가 없다 → 배열은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ap_memory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, 제어는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ap_ctrl_hs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합성 리포트 마지막의 "Interface" 표에서 확인 (</a:t>
            </a: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OUT_seq_1_address0 … ap_memory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FPGA 실증(14주차) 단계에서 AXI 인터페이스와 wrapper를 설계한다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#pragma HLS INLINE / 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66928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INLINE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669280" cy="1234439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int compute(int x)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INLINE            </a:t>
            </a:r>
            <a:r>
              <a:rPr sz="11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호출한 곳에 펼쳐 넣기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return x * x + 1;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2743200"/>
          <a:ext cx="566928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옵션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(기본)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함수를 호출 지점에 인라인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39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recursive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하위 함수까지 모두 인라인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39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off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인라인 금지 → 별도 모듈로 남김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4526280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효과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인라인하면 함수 경계가 사라져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연산을 함께 스케줄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최적화 여지 ↑, 호출 오버헤드 ↓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대신 모듈 단위 공유가 사라져 자원 ↑ 가능. 리포트 계층이 평평해짐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v0은 거의 모든 함수가 INLINE → 리포트에 </a:t>
            </a: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Loop_LOOP_T_proc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하나로 나옴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15568"/>
            <a:ext cx="53492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LATENCY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89888"/>
            <a:ext cx="5349240" cy="1234439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void my_func(int a, int &amp;b)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LATENCY min=4 max=8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b = a * 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5349240" cy="361188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 w="15875">
            <a:solidFill>
              <a:srgbClr val="8A8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LATENCY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함수·루프·영역의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최소/최대 latency(clock 수)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를 제약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max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를 작게 → 연산을 더 적은 단계에 몰아넣음 (단계당 로직 ↑, 타이밍 ↓ 가능)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min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을 크게 → 단계를 늘려 레지스터를 넣을 여지 (타이밍 ↑, latency ↑)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너무 엄격하면 합성 실패 또는 경고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#pragma HLS DEPENDENCE — 의존성 정보 직접 주기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85216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예시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852160" cy="1828799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PIPELINE II=1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DEPENDENCE variable=buf type=inter dependent=false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buf[idx[i]] = buf[idx[i]] + 1;  </a:t>
            </a:r>
            <a:r>
              <a:rPr sz="110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실제로 idx가 겹치지 않는다면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383280"/>
          <a:ext cx="5852160" cy="2523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파라미터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variable=&lt;v&gt;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변수·배열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type=inter | intra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 사이 / 반복 안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dependent=false|true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의존성 없음 / 있음 선언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direction=RAW|WAR|WAW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의존 방향 (읽기·쓰기 순서)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distance=&lt;n&gt;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몇 반복 뒤의 의존인지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92240" y="1115568"/>
            <a:ext cx="5257800" cy="23774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왜 필요한가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HLS는 주소를 정적으로 알 수 없으면 </a:t>
            </a:r>
            <a:r>
              <a:rPr sz="12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보수적으로</a:t>
            </a: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"의존성이 있다"고 가정 → II ↑</a:t>
            </a:r>
          </a:p>
          <a:p>
            <a:pPr marL="212407" indent="-166687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개발자가 "없다"는 것을 알면 알려 줘서 II를 줄인다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657600"/>
            <a:ext cx="5257800" cy="269748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실제로 의존성이 있는데 false로 선언하면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C-sim은 통과하지만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하드웨어는 틀린 값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을 낸다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반드시 C/RTL co-simulation으로 확인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GRU의 h(t−1) → h(t)는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진짜 의존성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→ DEPENDENCE로 없앨 수 없다. 재귀 경로 자체를 짧게 만들어야 한다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#pragma HLS BIND_OP / BIND_STORAGE — 구현 방식 지정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66928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BIND_OP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669280" cy="1325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int result = a * 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BIND_OP variable=result op=mul impl=dsp latency=3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이 곱셈을 DSP로, 3단 파이프라인으로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2834640"/>
          <a:ext cx="5669279" cy="205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옵션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op=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mul, add, sub, … (연산 종류)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impl=dsp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DSP 블록으로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impl=fabric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LUT로 (DSP를 아끼거나 짧은 지연)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latency=&lt;n&gt;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 연산의 파이프라인 단계 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498348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FDEFE6"/>
          </a:solidFill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트레이드오프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latency ↑: 클록은 빨라지지만 그 연산이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재귀 경로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에 있으면 II ↑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latency ↓: 단계가 줄지만 한 단계의 로직이 길어져 타이밍 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15568"/>
            <a:ext cx="53492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BIND_STORAGE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89888"/>
            <a:ext cx="5349240" cy="1325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int buf[1024];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BIND_STORAGE variable=buf type=ram_2p impl=bram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buf를 BRAM 2포트로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2834640"/>
          <a:ext cx="5349240" cy="23591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옵션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type=ram_1p / ram_2p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1포트 / 2포트 (읽기+쓰기)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type=ram_t2p / ram_s2p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True dual / Simple dual port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type=rom_1p …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ROM (상수 표)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impl=bram | uram | lutram | srl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자원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latency=&lt;n&gt;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메모리 읽기 지연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0" y="530352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상수 표(LUT 근사 등)를 ROM/LUTRAM/레지스터 중 어디에 둘지에 따라 지연·자원이 크게 달라진다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#pragma HLS ALLOCATION /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66928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ALLOCATION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66928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곱셈기를 최대 2개로 제한 (공유)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ALLOCATION operation instances=mul limit=2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2606040"/>
          <a:ext cx="566928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옵션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instances=&lt;이름&gt;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제한할 함수 또는 연산 (mul, add …)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limit=&lt;n&gt;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최대 개수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type=function|operation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종류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4434840"/>
            <a:ext cx="5669280" cy="1920240"/>
          </a:xfrm>
          <a:prstGeom prst="roundRect">
            <a:avLst>
              <a:gd name="adj" fmla="val 8000"/>
            </a:avLst>
          </a:prstGeom>
          <a:solidFill>
            <a:srgbClr val="FDEFE6"/>
          </a:solidFill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효과와 주의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DSP·LUT 사용량을 직접 제어. 개수를 줄이면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같은 곱셈기를 여러 번 사용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(시분할)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시분할하면 한 반복에 더 많은 cycle → 파이프라인 II ↑ 가능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자원 목표와 II = 2 조건을 함께 보며 써야 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15568"/>
            <a:ext cx="53492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STREAM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89888"/>
            <a:ext cx="534924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int buf[N];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STREAM variable=buf depth=16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DATAFLOW task 사이 buf를 깊이 16 FIFO로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2606040"/>
          <a:ext cx="534924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옵션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variable=&lt;v&gt;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스트림으로 만들 변수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depth=&lt;n&gt;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FIFO 깊이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92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type=fifo|pipo|shared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방식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0" y="443484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5875">
            <a:solidFill>
              <a:srgbClr val="2366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366B7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139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hls::stream&lt;T&gt;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는 자동으로 FIFO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DATAFLOW에서 생산·소비 속도가 다르면 depth로 흡수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depth가 너무 작으면 deadlock, 너무 크면 메모리 낭비 (co-sim에서 확인)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 밖의 directive — RESET, EXPRESSION_BALANCE, AGGREGATE 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15568"/>
          <a:ext cx="11338560" cy="4535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directive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하는 일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RESET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static/global 변수에 리셋 신호 추가·제거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#pragma HLS RESET variable=cache off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off로 하면 초기값이 필요한 상태(누산기·은닉 상태)가 틀어질 수 있다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EXPRESSION_BALANCE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 연산 사슬 (((a+b)+c)+d)을 트리 (a+b)+(c+d)로 재배열 → 임계 경로 단축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#pragma HLS EXPRESSION_BALANCE off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on. 고정소수점은 순서를 바꾸면 반올림 결과가 달라질 수 있다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AGGREGATE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struct·배열 멤버를 넓은 한 단어로 묶어 한 포트로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variable=d compact=bit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AXI 폭 맞출 때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DISAGGREGATE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struct를 멤버별 포트로 분리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variable=port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AGGREGATE의 반대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OCCURRENCE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영역이 상위보다 덜 자주 실행됨을 알림 → 자원 공유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cycle=2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DATAFLOW·파이프라인과 함께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STABLE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DATAFLOW 중 값이 변하지 않는 변수 선언 → 레지스터 복사 제거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variable=config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실제로 변하면 오동작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FUNCTION_INSTANTIATE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함수를 인자 값마다 다른 인스턴스로 특화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45" b="0">
                          <a:solidFill>
                            <a:srgbClr val="A31F34"/>
                          </a:solidFill>
                          <a:latin typeface="Consolas"/>
                          <a:ea typeface="맑은 고딕"/>
                          <a:cs typeface="맑은 고딕"/>
                        </a:rPr>
                        <a:t>variable=mode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상수 인자 최적화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11480" y="5760720"/>
            <a:ext cx="11338560" cy="59436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 w="15875">
            <a:solidFill>
              <a:srgbClr val="8A8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모든 pragma의 정확한 문법: AMD UG1399 (Vitis HLS User Guide) — HLS Pragmas 장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Directive 전체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15568"/>
          <a:ext cx="11338559" cy="51114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Directive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목적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효과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과제와의 관계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PIPELINE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파이프라인화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II ↓, 처리율 ↑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LOOP_T (II = 2 필수)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UNROLL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루프 복제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latency ↓, 자원 ↑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RES_J, MVM 출력 루프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ARRAY_PARTITION / RESHAPE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배열 분할·재구성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메모리 포트 ↑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가중치·상태 complete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DATAFLOW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task 병렬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task 겹쳐 실행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ResGRU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INTERFACE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포트 프로토콜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AXI / memory / stream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FPGA 실증 단계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INLINE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함수 인라인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계층 제거, 함께 스케줄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거의 모든 함수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LATENCY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latency 제약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수 제어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타이밍 조정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DEPENDENCE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의존성 정보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불필요한 stall 제거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주의해서 사용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BIND_OP / BIND_STORAGE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자원 지정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DSP·fabric, BRAM·LUTRAM 선택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곱셈·표 구현 선택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ALLOCATION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수 제한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공유로 DSP·LUT ↓ (II ↑ 가능)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최적화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STREAM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FIFO 채널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DATAFLOW 버퍼링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RESET / EXPRESSION_BALANCE / …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리셋 제어, 연산 트리 균형 …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면적·타이밍 미세 조정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pragma를 쓰는 두 가지 방법 — 소스 vs directive(tcl)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5778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소스 pragma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577840" cy="2103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6A9955"/>
                </a:solidFill>
                <a:latin typeface="Consolas"/>
                <a:ea typeface="맑은 고딕"/>
                <a:cs typeface="맑은 고딕"/>
              </a:rPr>
              <a:t>// 1) 소스에 직접 (이 과제의 v0 방식)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LOOP_T: for (int t = 0; t &lt; TIME_STEP; t++)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C586C0"/>
                </a:solidFill>
                <a:latin typeface="Consolas"/>
                <a:ea typeface="맑은 고딕"/>
                <a:cs typeface="맑은 고딕"/>
              </a:rPr>
              <a:t>#pragma HLS PIPELINE II=2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...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115568"/>
            <a:ext cx="55778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directive (run_resgru.tcl의 csynth 전에)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89888"/>
            <a:ext cx="5577840" cy="2103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# 2) tcl에서 (소스를 바꾸지 않고 실험)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set_directive_pipeline -II 2 "ResGRU/LOOP_T"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set_directive_unroll "ResGRU/LOOP_T/LAYER_LOOP/RES_J"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set_directive_array_partition -type complete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-dim 1 "ResGRU" W_inj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set_directive_bind_op -op mul -impl dsp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-latency 2 "my_func" result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3703320"/>
          <a:ext cx="1133856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pragma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tcl directive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장점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코드와 함께 버전 관리, 어디에 적용되는지 명확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solution마다 다른 설정 실험 가능, 소스 그대로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지정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pragma를 쓴 위치 (함수·루프 본문 맨 앞)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"함수/루프라벨" 경로 — 루프에 이름(label)이 필요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합성 로그에 적용 메시지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solution의 directives.tcl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5623560"/>
            <a:ext cx="11338560" cy="73152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 w="15875">
            <a:solidFill>
              <a:srgbClr val="8A8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둘 다 결과는 같다. 이 과제는 소스 pragma 기준으로 git에 기록하고, 빠른 실험은 tcl로 해도 좋다 — 최종 제출은 소스 + tcl만으로 재현되어야 한다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타이밍 클로저 기초 — 66 MHz를 맞추려면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15568"/>
            <a:ext cx="576072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25742" indent="-180022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클록 주기 안에 </a:t>
            </a:r>
            <a:r>
              <a:rPr sz="13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레지스터 → 조합 논리 → 레지스터</a:t>
            </a: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경로가 끝나야 한다</a:t>
            </a:r>
          </a:p>
          <a:p>
            <a:pPr marL="225742" indent="-180022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가장 긴 경로 = </a:t>
            </a:r>
            <a:r>
              <a:rPr sz="13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임계 경로 (critical path)</a:t>
            </a: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. 그 지연이 Fmax를 정한다</a:t>
            </a:r>
          </a:p>
          <a:p>
            <a:pPr marL="225742" indent="-180022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WNS (Worst Negative Slack) = 목표 주기 − 임계 경로 지연. </a:t>
            </a:r>
            <a:r>
              <a:rPr sz="135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음수면 미달</a:t>
            </a:r>
          </a:p>
          <a:p>
            <a:pPr marL="481774" indent="-180022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–"/>
            </a:pPr>
            <a:r>
              <a:rPr sz="125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v0: 15 − 17.13 = </a:t>
            </a:r>
            <a:r>
              <a:rPr sz="1250" b="1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−2.13 ns</a:t>
            </a:r>
            <a:r>
              <a:rPr sz="125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 (Windows PC)</a:t>
            </a:r>
          </a:p>
          <a:p>
            <a:pPr marL="225742" indent="-180022" algn="l">
              <a:lnSpc>
                <a:spcPct val="112000"/>
              </a:lnSpc>
              <a:spcAft>
                <a:spcPts val="400"/>
              </a:spcAft>
              <a:buClr>
                <a:srgbClr val="4A4A48"/>
              </a:buClr>
              <a:buFont typeface="Arial"/>
              <a:buChar char="•"/>
            </a:pPr>
            <a:r>
              <a:rPr sz="13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HLS 추정은 배선 지연을 모른다 → 구현 후 더 느려지는 것이 보통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4069080"/>
          <a:ext cx="5760720" cy="2304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효과 / 대가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연산을 여러 단계로 나눔 (latency ↑)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 ↓ / 재귀 경로면 II ↑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비트 폭 줄이기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곱셈·덧셈 지연 ↓ / 정확도 확인 필요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연산 순서 재배열 (트리)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논리 깊이 ↓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clock uncertainty ↑ (HLS 여유)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HLS가 더 보수적으로 스케줄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Vivado 구현 전략 변경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RTL로 약간의 개선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0" y="1115568"/>
            <a:ext cx="534924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sz="1000">
                <a:solidFill>
                  <a:srgbClr val="CCCCCC"/>
                </a:solidFill>
                <a:latin typeface="Consolas"/>
                <a:ea typeface="맑은 고딕"/>
                <a:cs typeface="맑은 고딕"/>
              </a:rPr>
              <a:t>tcl에서 조정하는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89888"/>
            <a:ext cx="5349240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create_clock -period 15 -name default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set_clock_uncertainty 12.5%      ;# 기본 27%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config_export -vivado_impl_strategy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D4D4D4"/>
                </a:solidFill>
                <a:latin typeface="Consolas"/>
                <a:ea typeface="맑은 고딕"/>
                <a:cs typeface="맑은 고딕"/>
              </a:rPr>
              <a:t>    Performance_Explore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926080"/>
            <a:ext cx="5349240" cy="3429000"/>
          </a:xfrm>
          <a:prstGeom prst="roundRect">
            <a:avLst>
              <a:gd name="adj" fmla="val 8000"/>
            </a:avLst>
          </a:prstGeom>
          <a:solidFill>
            <a:srgbClr val="FDEFE6"/>
          </a:solidFill>
          <a:ln w="15875">
            <a:solidFill>
              <a:srgbClr val="D9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이 과제에서의 의미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II = 2를 지키면서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임계 경로를 줄이는 것이 이 과제의 핵심 난제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임계 경로가 </a:t>
            </a:r>
            <a:r>
              <a:rPr sz="12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재귀 경로(h → … → h)</a:t>
            </a: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에 있으면 단계를 나누는 순간 II가 늘어난다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재귀 경로 밖(FEx, 입력 투영, 출력 투영 등)은 단계를 나눠도 II에 영향 없음 → latency만 증가</a:t>
            </a:r>
          </a:p>
          <a:p>
            <a:pPr marL="205740" indent="-160020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그래서 먼저 "임계 경로가 어디에 있나"를 timing 리포트와 Schedule Viewer로 확인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분석 도구 — 어디서 무엇을 보나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15568"/>
          <a:ext cx="6400800" cy="4279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 싶은 것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어디서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236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II, latency, 추정 자원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syn/report/*_csynth.rpt · GUI Synthesis Summary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II를 못 맞춘 이유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vitis_hls.log: "HLS 200-880", "Pipelining result"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연산이 몇 번째 cycle에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GUI → Analysis → </a:t>
                      </a:r>
                      <a:r>
                        <a:rPr sz="115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Schedule Viewer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DATAFLOW task 구조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GUI → Dataflow Viewer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후 자원·타이밍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impl/report/verilog/export_impl.rpt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모듈별 자원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impl/verilog/report/*utilization_hierarchical*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 경로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impl/verilog/report/*timing* (또는 Vivado에서 report_timing)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pragma가 적용됐나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로그의 "Unrolling", "Partitioning", "Inlining" 메시지</a:t>
                      </a: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BFC5CF"/>
                      </a:solidFill>
                      <a:prstDash val="solid"/>
                    </a:lnL>
                    <a:lnR w="6350" cap="flat" cmpd="sng" algn="ctr">
                      <a:solidFill>
                        <a:srgbClr val="BFC5CF"/>
                      </a:solidFill>
                      <a:prstDash val="solid"/>
                    </a:lnR>
                    <a:lnT w="6350" cap="flat" cmpd="sng" algn="ctr">
                      <a:solidFill>
                        <a:srgbClr val="BFC5CF"/>
                      </a:solidFill>
                      <a:prstDash val="solid"/>
                    </a:lnT>
                    <a:lnB w="6350" cap="flat" cmpd="sng" algn="ctr">
                      <a:solidFill>
                        <a:srgbClr val="BFC5CF"/>
                      </a:solidFill>
                      <a:prstDash val="soli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CREENSHOT_D"/>
          <p:cNvSpPr/>
          <p:nvPr/>
        </p:nvSpPr>
        <p:spPr>
          <a:xfrm>
            <a:off x="7040880" y="1115568"/>
            <a:ext cx="4709160" cy="2514600"/>
          </a:xfrm>
          <a:prstGeom prst="rect">
            <a:avLst/>
          </a:prstGeom>
          <a:solidFill>
            <a:srgbClr val="F7F7F5"/>
          </a:solidFill>
          <a:ln w="22225">
            <a:solidFill>
              <a:srgbClr val="D95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[스크린샷 D]  Schedule Viewer에서 연산 하나를 선택한 화면</a:t>
            </a:r>
          </a:p>
          <a:p>
            <a:pPr algn="ctr"/>
            <a:r>
              <a:rPr sz="11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LOOP_T 안의 곱셈(mul) 또는 h_state_all load/store를 클릭해 아래 Properties에 cycle·소스 위치가 보이게</a:t>
            </a:r>
          </a:p>
        </p:txBody>
      </p:sp>
      <p:sp>
        <p:nvSpPr>
          <p:cNvPr id="6" name="SCREENSHOT_E"/>
          <p:cNvSpPr/>
          <p:nvPr/>
        </p:nvSpPr>
        <p:spPr>
          <a:xfrm>
            <a:off x="7040880" y="3840480"/>
            <a:ext cx="4709160" cy="2514600"/>
          </a:xfrm>
          <a:prstGeom prst="rect">
            <a:avLst/>
          </a:prstGeom>
          <a:solidFill>
            <a:srgbClr val="F7F7F5"/>
          </a:solidFill>
          <a:ln w="22225">
            <a:solidFill>
              <a:srgbClr val="D95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 b="1">
                <a:solidFill>
                  <a:srgbClr val="D95A1E"/>
                </a:solidFill>
                <a:latin typeface="맑은 고딕"/>
                <a:ea typeface="맑은 고딕"/>
                <a:cs typeface="맑은 고딕"/>
              </a:rPr>
              <a:t>[스크린샷 E]  Vivado에서 연 timing 리포트의 임계 경로</a:t>
            </a:r>
          </a:p>
          <a:p>
            <a:pPr algn="ctr"/>
            <a:r>
              <a:rPr sz="1100" b="0">
                <a:solidFill>
                  <a:srgbClr val="4A4A48"/>
                </a:solidFill>
                <a:latin typeface="맑은 고딕"/>
                <a:ea typeface="맑은 고딕"/>
                <a:cs typeface="맑은 고딕"/>
              </a:rPr>
              <a:t>export 후 Vivado로 impl 결과(.dcp)를 열어 report_timing — 가장 나쁜 경로의 출발·도착 셀 이름이 보이게 (선택)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체크리스트와 자주 하는 실수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985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15568"/>
            <a:ext cx="5577840" cy="5257800"/>
          </a:xfrm>
          <a:prstGeom prst="roundRect">
            <a:avLst>
              <a:gd name="adj" fmla="val 8000"/>
            </a:avLst>
          </a:prstGeom>
          <a:solidFill>
            <a:srgbClr val="E6F5EE"/>
          </a:solidFill>
          <a:ln w="15875">
            <a:solidFill>
              <a:srgbClr val="148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48F63"/>
                </a:solidFill>
                <a:latin typeface="맑은 고딕"/>
                <a:ea typeface="맑은 고딕"/>
                <a:cs typeface="맑은 고딕"/>
              </a:rPr>
              <a:t>작업 순서 체크리스트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C-sim PASS 후에만 합성 (합성은 수 분~1시간)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합성 후 </a:t>
            </a: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로그의 경고</a:t>
            </a: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부터: HLS 200-880 (II 위반), 적용 안 된 pragma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II·latency는 csynth, </a:t>
            </a: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자원·타이밍은 구현 후</a:t>
            </a: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값으로 기록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변경은 한 번에 하나, 결과는 PPA 이력표에 (커밋 해시와 함께)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고정소수점 형식을 바꿨으면 </a:t>
            </a:r>
            <a:r>
              <a:rPr sz="1235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hw_ref.py</a:t>
            </a: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에도 같은 형식 → compare_out PASS 확인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정확도는 </a:t>
            </a:r>
            <a:r>
              <a:rPr sz="1235" b="0">
                <a:solidFill>
                  <a:srgbClr val="A31F34"/>
                </a:solidFill>
                <a:latin typeface="Consolas"/>
                <a:ea typeface="맑은 고딕"/>
                <a:cs typeface="맑은 고딕"/>
              </a:rPr>
              <a:t>eval_pa.py</a:t>
            </a: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 (2,560 구간). 다른 방식의 숫자와 비교하지 않기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pragma를 바꿨으면 </a:t>
            </a:r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co-sim</a:t>
            </a: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으로 RTL이 같은 결과인지 가끔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15568"/>
            <a:ext cx="5577840" cy="52578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 anchor="t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자주 하는 실수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"II=1 pragma를 넣었으니 II=1이겠지" → 로그 확인 안 함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합성 추정 LUT로 자원 비교 (v0: 추정 187k vs 구현 46.6k)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static 변수의 초기화·리셋을 바꾸고 co-sim을 안 함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DEPENDENCE false를 진짜 의존성에 사용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파이프라인 안에 큰 루프를 두어 자원 폭발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float / double을 합성 코드에 남김 (거대한 부동소수점 IP)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경로에 한글·공백 → 툴 오류</a:t>
            </a:r>
          </a:p>
          <a:p>
            <a:pPr marL="219075" indent="-173355" algn="l">
              <a:lnSpc>
                <a:spcPct val="110000"/>
              </a:lnSpc>
              <a:spcAft>
                <a:spcPts val="200"/>
              </a:spcAft>
              <a:buClr>
                <a:srgbClr val="4A4A48"/>
              </a:buClr>
              <a:buFont typeface="Arial"/>
              <a:buChar char="•"/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서로 다른 PC에서 잰 타이밍을 한 표에 섞기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1252</TotalTime>
  <Words>14930</Words>
  <Application>Microsoft Office PowerPoint</Application>
  <PresentationFormat>와이드스크린</PresentationFormat>
  <Paragraphs>1664</Paragraphs>
  <Slides>63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0" baseType="lpstr">
      <vt:lpstr>Arial Unicode MS</vt:lpstr>
      <vt:lpstr>나눔고딕</vt:lpstr>
      <vt:lpstr>맑은 고딕</vt:lpstr>
      <vt:lpstr>Arial</vt:lpstr>
      <vt:lpstr>Calibri</vt:lpstr>
      <vt:lpstr>Consolas</vt:lpstr>
      <vt:lpstr>Office 테마</vt:lpstr>
      <vt:lpstr>PowerPoint 프레젠테이션</vt:lpstr>
      <vt:lpstr>목차</vt:lpstr>
      <vt:lpstr>PowerPoint 프레젠테이션</vt:lpstr>
      <vt:lpstr>PA 비선형성과 DPD의 원리</vt:lpstr>
      <vt:lpstr>DPD 성능 지표 — NMSE · ACPR · EVM</vt:lpstr>
      <vt:lpstr>PowerPoint 프레젠테이션</vt:lpstr>
      <vt:lpstr>LW-ResGRU 한눈에 (논문: Kim, Park, Kim, KNU)</vt:lpstr>
      <vt:lpstr>논문의 novelty - II = 2</vt:lpstr>
      <vt:lpstr>HLS 소스 (v0) 파일 지도 — src/</vt:lpstr>
      <vt:lpstr>호출 구조 — 샘플 하나가 지나가는 길</vt:lpstr>
      <vt:lpstr>config.h — 크기와 자료형</vt:lpstr>
      <vt:lpstr>top 함수 ResGRU — 인터페이스</vt:lpstr>
      <vt:lpstr>ResGRU 본문 — LOOP_T (시간 루프)</vt:lpstr>
      <vt:lpstr>FExLayer — 특징 추출 (linear_layer.h)</vt:lpstr>
      <vt:lpstr>Linear · MVM_PE · MAC_PE — 행렬곱 (linear_layer.h)</vt:lpstr>
      <vt:lpstr>GRU_single · GRU_Kernel_PE — GRU 셀의 행렬곱</vt:lpstr>
      <vt:lpstr>Gate_Calc_PE · 활성화 함수 — 게이트와 상태 갱신</vt:lpstr>
      <vt:lpstr>나머지 코드 — prelu, copy_row, 출력</vt:lpstr>
      <vt:lpstr>대응표 — PyTorch ↔ HLS ↔ golden ↔ hw_ref</vt:lpstr>
      <vt:lpstr>PowerPoint 프레젠테이션</vt:lpstr>
      <vt:lpstr>배포 패키지 구성</vt:lpstr>
      <vt:lpstr>도구 ① hw_ref.py — HLS를 흉내 내는 Python reference</vt:lpstr>
      <vt:lpstr>도구 ② compare_out · eval_pa · testbench — 검증 흐름</vt:lpstr>
      <vt:lpstr>Vitis HLS 2024.1 설치 (Windows)</vt:lpstr>
      <vt:lpstr>v0 돌려 보기 ① C-sim (명령 프롬프트)</vt:lpstr>
      <vt:lpstr>v0 돌려 보기 ② C 합성 결과 읽기 (csynth)</vt:lpstr>
      <vt:lpstr>v0 돌려 보기 ③ GUI로 결과 보기</vt:lpstr>
      <vt:lpstr>v0 돌려 보기 ③ GUI로 결과 보기</vt:lpstr>
      <vt:lpstr>v0 돌려 보기 ③ GUI로 결과 보기</vt:lpstr>
      <vt:lpstr>v0 돌려 보기 ③ GUI로 결과 보기</vt:lpstr>
      <vt:lpstr>v0 돌려 보기 ④ 구현 (Implementation) 결과</vt:lpstr>
      <vt:lpstr>Design  Test Flow (v0 재현 용)</vt:lpstr>
      <vt:lpstr>Design  Test Flow (src 수정 후 implementation까지)</vt:lpstr>
      <vt:lpstr>v0의 성능 열화 ① 정확도 — 논문과 비교</vt:lpstr>
      <vt:lpstr>v0의 성능 열화 ② 하드웨어 — 논문과 비교</vt:lpstr>
      <vt:lpstr>v0 알려진 문제 P1 ~ P4 — 증상과 손실</vt:lpstr>
      <vt:lpstr>Project Goal</vt:lpstr>
      <vt:lpstr>PowerPoint 프레젠테이션</vt:lpstr>
      <vt:lpstr>HLS (High-Level Synthesis)란</vt:lpstr>
      <vt:lpstr>HLS 설계 흐름과 리포트</vt:lpstr>
      <vt:lpstr>자료형 — ap_int, ap_fixed</vt:lpstr>
      <vt:lpstr>성능 지표 읽는 법 — Latency, II, 처리율, 타이밍</vt:lpstr>
      <vt:lpstr>루프는 어떻게 하드웨어가 되나 — 순차 · 파이프라인 · II</vt:lpstr>
      <vt:lpstr>예제로 보기 ① 최적화 없음 (FIR 필터)</vt:lpstr>
      <vt:lpstr>예제로 보기 ② UNROLL과 ③ PIPELINE</vt:lpstr>
      <vt:lpstr>#pragma HLS PIPELINE — 문법과 동작</vt:lpstr>
      <vt:lpstr>반복 사이 의존성 (loop-carried dependency)과 II</vt:lpstr>
      <vt:lpstr>#pragma HLS UNROLL — 루프 펼치기</vt:lpstr>
      <vt:lpstr>그 밖의 루프 pragma</vt:lpstr>
      <vt:lpstr>배열과 메모리 — 왜 ARRAY_PARTITION이 필요한가</vt:lpstr>
      <vt:lpstr>#pragma HLS ARRAY_PARTITION / ARRAY_RESHAPE</vt:lpstr>
      <vt:lpstr>#pragma HLS DATAFLOW — 함수 단위 병렬</vt:lpstr>
      <vt:lpstr>#pragma HLS INTERFACE — 포트 프로토콜</vt:lpstr>
      <vt:lpstr>#pragma HLS INLINE / LATENCY</vt:lpstr>
      <vt:lpstr>#pragma HLS DEPENDENCE — 의존성 정보 직접 주기</vt:lpstr>
      <vt:lpstr>#pragma HLS BIND_OP / BIND_STORAGE — 구현 방식 지정</vt:lpstr>
      <vt:lpstr>#pragma HLS ALLOCATION / STREAM</vt:lpstr>
      <vt:lpstr>그 밖의 directive — RESET, EXPRESSION_BALANCE, AGGREGATE …</vt:lpstr>
      <vt:lpstr>Directive 전체 요약</vt:lpstr>
      <vt:lpstr>pragma를 쓰는 두 가지 방법 — 소스 vs directive(tcl)</vt:lpstr>
      <vt:lpstr>타이밍 클로저 기초 — 66 MHz를 맞추려면</vt:lpstr>
      <vt:lpstr>분석 도구 — 어디서 무엇을 보나</vt:lpstr>
      <vt:lpstr>체크리스트와 자주 하는 실수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강명룡</dc:creator>
  <cp:lastModifiedBy>강명룡</cp:lastModifiedBy>
  <cp:revision>30</cp:revision>
  <dcterms:created xsi:type="dcterms:W3CDTF">2026-08-03T07:50:29Z</dcterms:created>
  <dcterms:modified xsi:type="dcterms:W3CDTF">2026-10-15T06:53:03Z</dcterms:modified>
</cp:coreProperties>
</file>